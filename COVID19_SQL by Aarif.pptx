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4" d="100"/>
          <a:sy n="104" d="100"/>
        </p:scale>
        <p:origin x="-39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bubble3D val="0"/>
            <c:spPr>
              <a:solidFill>
                <a:srgbClr val="FB8C00"/>
              </a:solidFill>
              <a:effectLst/>
            </c:spPr>
          </c:dPt>
          <c:dPt>
            <c:idx val="2"/>
            <c:bubble3D val="0"/>
            <c:spPr>
              <a:solidFill>
                <a:srgbClr val="43A047"/>
              </a:solidFill>
              <a:effectLst/>
            </c:spPr>
          </c:dPt>
          <c:dPt>
            <c:idx val="3"/>
            <c:bubble3D val="0"/>
            <c:spPr>
              <a:solidFill>
                <a:srgbClr val="1E88E5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Severe</c:v>
                </c:pt>
                <c:pt idx="2">
                  <c:v>Moderate</c:v>
                </c:pt>
                <c:pt idx="3">
                  <c:v>Mild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CCCCC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 (₹)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B8C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24AA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Aman</c:v>
                </c:pt>
                <c:pt idx="1">
                  <c:v>Sara</c:v>
                </c:pt>
                <c:pt idx="2">
                  <c:v>Rohit</c:v>
                </c:pt>
                <c:pt idx="3">
                  <c:v>Neha</c:v>
                </c:pt>
                <c:pt idx="4">
                  <c:v>Ali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50000</c:v>
                </c:pt>
                <c:pt idx="1">
                  <c:v>120000</c:v>
                </c:pt>
                <c:pt idx="2">
                  <c:v>250000</c:v>
                </c:pt>
                <c:pt idx="3">
                  <c:v>30000</c:v>
                </c:pt>
                <c:pt idx="4">
                  <c:v>280000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25267712"/>
        <c:axId val="225284480"/>
      </c:barChart>
      <c:catAx>
        <c:axId val="2252677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25284480"/>
        <c:crosses val="autoZero"/>
        <c:auto val="1"/>
        <c:lblAlgn val="ctr"/>
        <c:lblOffset val="100"/>
        <c:noMultiLvlLbl val="1"/>
      </c:catAx>
      <c:valAx>
        <c:axId val="22528448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2526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7C443-7828-4130-B7F5-12DBF7097E9D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DFF97-14AD-4279-8693-2C59AE1A8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466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90000"/>
          </a:solidFill>
          <a:ln w="12700">
            <a:solidFill>
              <a:srgbClr val="19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200400"/>
            <a:ext cx="3200400" cy="3200400"/>
          </a:xfrm>
          <a:prstGeom prst="ellipse">
            <a:avLst/>
          </a:prstGeom>
          <a:solidFill>
            <a:srgbClr val="8B0000">
              <a:alpha val="2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"/>
            <a:ext cx="2194560" cy="109728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softEdge rad="11250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6" name="Text 3"/>
          <p:cNvSpPr/>
          <p:nvPr/>
        </p:nvSpPr>
        <p:spPr>
          <a:xfrm>
            <a:off x="640080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SOFTWARE INSTITUTE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457200" y="166420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600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SQL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457200" y="2944368"/>
            <a:ext cx="3657600" cy="54864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0723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SQL Project  ·  Database Design  ·  20 Business Insights  ·  Strategic Decisions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1605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CC1111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Tables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28800" y="41605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CC1111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82880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Insights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41605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CC1111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20040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0" y="41605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CC1111">
              <a:alpha val="7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</a:t>
            </a:r>
            <a:endParaRPr lang="en-US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6867144" y="3232404"/>
            <a:ext cx="2282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Algerian" panose="04020705040A02060702" pitchFamily="82" charset="0"/>
              </a:rPr>
              <a:t>By </a:t>
            </a:r>
            <a:r>
              <a:rPr lang="en-US" sz="3600" b="1" dirty="0" err="1" smtClean="0">
                <a:solidFill>
                  <a:schemeClr val="bg1"/>
                </a:solidFill>
                <a:latin typeface="Algerian" panose="04020705040A02060702" pitchFamily="82" charset="0"/>
              </a:rPr>
              <a:t>Aarif</a:t>
            </a:r>
            <a:endParaRPr lang="en-IN" sz="36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21" name="Picture 2" descr="virus macro - covid 19 stock pictures, royalty-free photos &amp; imag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297" y="556853"/>
            <a:ext cx="1617223" cy="184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54864" cy="475488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Agenda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3152"/>
            <a:ext cx="713232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1323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this presentation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" y="1051560"/>
            <a:ext cx="8503920" cy="1115568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051560"/>
            <a:ext cx="64008" cy="1115568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143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234440" y="12161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Setup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4440" y="16733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→ Design Tables (Patients &amp; CovidCases) → Insert Sample Data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2350008"/>
            <a:ext cx="8503920" cy="1115568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350008"/>
            <a:ext cx="64008" cy="1115568"/>
          </a:xfrm>
          <a:prstGeom prst="rect">
            <a:avLst/>
          </a:prstGeom>
          <a:solidFill>
            <a:srgbClr val="E82222"/>
          </a:solidFill>
          <a:ln w="12700">
            <a:solidFill>
              <a:srgbClr val="E822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4414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234440" y="25146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SQL Business Insights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297180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Cost Analysis · Trends · Vaccination Impact · Window Functions · Subqueries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" y="3648456"/>
            <a:ext cx="8503920" cy="1115568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" y="3648456"/>
            <a:ext cx="64008" cy="11155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73989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1234440" y="38130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Decisions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34440" y="427024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hospital management &amp; public health recommendations from SQL findings</a:t>
            </a:r>
            <a:endParaRPr lang="en-US" sz="1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265" y="823119"/>
            <a:ext cx="3408363" cy="4297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54864" cy="475488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Database Schema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3152"/>
            <a:ext cx="713232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1323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CovidAnalytics Database · Two relational tables with foreign key constraint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" y="1024128"/>
            <a:ext cx="4114800" cy="347472"/>
          </a:xfrm>
          <a:prstGeom prst="rect">
            <a:avLst/>
          </a:prstGeom>
          <a:solidFill>
            <a:srgbClr val="CC1111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1024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Patients Table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4114800" cy="352044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Column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 Type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000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patient_id  (PK)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patient_name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VARCHAR(50)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city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VARCHAR(50)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gender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VARCHAR(10)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admission_date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discharge_date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VARCHAR(20)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0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434840" y="2743200"/>
            <a:ext cx="457200" cy="36576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24528" y="2606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160520" y="285292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patient_id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4937760" y="1024128"/>
            <a:ext cx="3858768" cy="3474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1"/>
          <p:cNvSpPr/>
          <p:nvPr/>
        </p:nvSpPr>
        <p:spPr>
          <a:xfrm>
            <a:off x="4937760" y="1024128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CovidCases Table</a:t>
            </a:r>
            <a:endParaRPr lang="en-US" sz="1100" dirty="0"/>
          </a:p>
        </p:txBody>
      </p:sp>
      <p:graphicFrame>
        <p:nvGraphicFramePr>
          <p:cNvPr id="1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3858768" cy="3246120"/>
        </p:xfrm>
        <a:graphic>
          <a:graphicData uri="http://schemas.openxmlformats.org/drawingml/2006/table">
            <a:tbl>
              <a:tblPr/>
              <a:tblGrid>
                <a:gridCol w="2286000"/>
                <a:gridCol w="1572768"/>
              </a:tblGrid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Column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 Type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000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case_id  (PK)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patient_id  (FK)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test_date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severity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VARCHAR(20)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oxygen_required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VARCHAR(10)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hospital_bill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DECIMAL(10,2)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vaccination_status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VARCHAR(20)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320040" y="47548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CovidAnalytics;  USE CovidAnalytics;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54864" cy="475488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Sample Data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3152"/>
            <a:ext cx="713232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1323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patients · 5 COVID cases inserted for analysis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" y="1005840"/>
            <a:ext cx="8503920" cy="292608"/>
          </a:xfrm>
          <a:prstGeom prst="rect">
            <a:avLst/>
          </a:prstGeom>
          <a:solidFill>
            <a:srgbClr val="CC1111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10058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Table — 5 Records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6766560" cy="1508760"/>
        </p:xfrm>
        <a:graphic>
          <a:graphicData uri="http://schemas.openxmlformats.org/drawingml/2006/table">
            <a:tbl>
              <a:tblPr/>
              <a:tblGrid>
                <a:gridCol w="502920"/>
                <a:gridCol w="1920240"/>
                <a:gridCol w="1463040"/>
                <a:gridCol w="594360"/>
                <a:gridCol w="914400"/>
                <a:gridCol w="1371600"/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0000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 Sharma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6F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 Khan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6F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Rohit Verma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 Singh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6F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 Hassan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000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20040" y="2907792"/>
            <a:ext cx="8503920" cy="29260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2" name="Text 8"/>
          <p:cNvSpPr/>
          <p:nvPr/>
        </p:nvSpPr>
        <p:spPr>
          <a:xfrm>
            <a:off x="320040" y="2907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CovidCases Table — 5 Records</a:t>
            </a:r>
            <a:endParaRPr lang="en-US" sz="10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00400"/>
          <a:ext cx="6035040" cy="1664208"/>
        </p:xfrm>
        <a:graphic>
          <a:graphicData uri="http://schemas.openxmlformats.org/drawingml/2006/table">
            <a:tbl>
              <a:tblPr/>
              <a:tblGrid>
                <a:gridCol w="731520"/>
                <a:gridCol w="594360"/>
                <a:gridCol w="1143000"/>
                <a:gridCol w="822960"/>
                <a:gridCol w="1188720"/>
                <a:gridCol w="1554480"/>
              </a:tblGrid>
              <a:tr h="277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(₹)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0000"/>
                    </a:solidFill>
                  </a:tcPr>
                </a:tc>
              </a:tr>
              <a:tr h="277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6F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</a:tr>
              <a:tr h="277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6F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</a:tr>
              <a:tr h="277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Vaccinated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</a:tr>
              <a:tr h="277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6FF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</a:tr>
              <a:tr h="277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Vaccinated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000"/>
                    </a:solidFill>
                  </a:tcPr>
                </a:tc>
              </a:tr>
            </a:tbl>
          </a:graphicData>
        </a:graphic>
      </p:graphicFrame>
      <p:pic>
        <p:nvPicPr>
          <p:cNvPr id="2050" name="Picture 2" descr="covid-19 - laboratory team working on coronavirus vaccine. protective workwear - covid-19-virus stock pictures, royalty-free photos &amp; imag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043" y="1662112"/>
            <a:ext cx="2580958" cy="32024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A"/>
          </a:solidFill>
          <a:ln w="12700">
            <a:solidFill>
              <a:srgbClr val="0D1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3D8EFF"/>
          </a:solidFill>
          <a:ln w="12700">
            <a:solidFill>
              <a:srgbClr val="3D8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91440"/>
            <a:ext cx="64008" cy="475488"/>
          </a:xfrm>
          <a:prstGeom prst="rect">
            <a:avLst/>
          </a:prstGeom>
          <a:solidFill>
            <a:srgbClr val="3D8EFF"/>
          </a:solidFill>
          <a:ln w="12700">
            <a:solidFill>
              <a:srgbClr val="3D8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3D8EFF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3000" y="91440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SQL Insights #1 to #5</a:t>
            </a:r>
            <a:endParaRPr lang="en-US" sz="1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3152"/>
            <a:ext cx="713232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92608" y="749808"/>
            <a:ext cx="4389120" cy="228600"/>
          </a:xfrm>
          <a:prstGeom prst="roundRect">
            <a:avLst>
              <a:gd name="adj" fmla="val 24000"/>
            </a:avLst>
          </a:prstGeom>
          <a:solidFill>
            <a:srgbClr val="3D8EFF">
              <a:alpha val="2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7498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Revenue &amp; Recovery Analysis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46320" y="758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Average Cost, City Analysis, Vaccination, Recovery</a:t>
            </a:r>
            <a:endParaRPr lang="en-US" sz="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680960" y="749808"/>
            <a:ext cx="1261872" cy="95097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92608" y="1005840"/>
            <a:ext cx="1664208" cy="3822192"/>
          </a:xfrm>
          <a:prstGeom prst="rect">
            <a:avLst/>
          </a:prstGeom>
          <a:solidFill>
            <a:srgbClr val="0D1B4A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2608" y="1005840"/>
            <a:ext cx="1664208" cy="91440"/>
          </a:xfrm>
          <a:prstGeom prst="rect">
            <a:avLst/>
          </a:prstGeom>
          <a:solidFill>
            <a:srgbClr val="3D8EFF"/>
          </a:solidFill>
          <a:ln w="12700">
            <a:solidFill>
              <a:srgbClr val="3D8E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92608" y="4791456"/>
            <a:ext cx="1664208" cy="36576"/>
          </a:xfrm>
          <a:prstGeom prst="rect">
            <a:avLst/>
          </a:prstGeom>
          <a:solidFill>
            <a:srgbClr val="3D8EFF">
              <a:alpha val="40000"/>
            </a:srgbClr>
          </a:solidFill>
          <a:ln w="12700">
            <a:solidFill>
              <a:srgbClr val="3D8EFF">
                <a:alpha val="4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92608" y="1097280"/>
            <a:ext cx="45720" cy="3694176"/>
          </a:xfrm>
          <a:prstGeom prst="rect">
            <a:avLst/>
          </a:prstGeom>
          <a:solidFill>
            <a:srgbClr val="3D8EFF">
              <a:alpha val="45000"/>
            </a:srgbClr>
          </a:solidFill>
          <a:ln w="12700">
            <a:solidFill>
              <a:srgbClr val="3D8EFF">
                <a:alpha val="4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3D8EFF">
              <a:alpha val="25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#1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65760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Hospital Revenue</a:t>
            </a:r>
            <a:endParaRPr lang="en-US" sz="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316736" y="1115568"/>
            <a:ext cx="530352" cy="38404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56616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22" name="Shape 17"/>
          <p:cNvSpPr/>
          <p:nvPr/>
        </p:nvSpPr>
        <p:spPr>
          <a:xfrm>
            <a:off x="356616" y="1901952"/>
            <a:ext cx="1536192" cy="36576"/>
          </a:xfrm>
          <a:prstGeom prst="rect">
            <a:avLst/>
          </a:prstGeom>
          <a:solidFill>
            <a:srgbClr val="3D8EFF">
              <a:alpha val="50000"/>
            </a:srgbClr>
          </a:solidFill>
          <a:ln w="12700">
            <a:solidFill>
              <a:srgbClr val="3D8EFF">
                <a:alpha val="5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56616" y="1938528"/>
            <a:ext cx="36576" cy="2523744"/>
          </a:xfrm>
          <a:prstGeom prst="rect">
            <a:avLst/>
          </a:prstGeom>
          <a:solidFill>
            <a:srgbClr val="3D8EFF">
              <a:alpha val="60000"/>
            </a:srgbClr>
          </a:solidFill>
          <a:ln w="12700">
            <a:solidFill>
              <a:srgbClr val="3D8EFF">
                <a:alpha val="6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29768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SUM(hospital_bill)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total_revenue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CovidCases;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56616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3D8EFF">
              <a:alpha val="22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384048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SUM() aggregate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1993392" y="1005840"/>
            <a:ext cx="1664208" cy="3822192"/>
          </a:xfrm>
          <a:prstGeom prst="rect">
            <a:avLst/>
          </a:prstGeom>
          <a:solidFill>
            <a:srgbClr val="0A204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993392" y="1005840"/>
            <a:ext cx="1664208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993392" y="4791456"/>
            <a:ext cx="1664208" cy="36576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993392" y="1097280"/>
            <a:ext cx="45720" cy="3694176"/>
          </a:xfrm>
          <a:prstGeom prst="rect">
            <a:avLst/>
          </a:prstGeom>
          <a:solidFill>
            <a:srgbClr val="00B4D8">
              <a:alpha val="45000"/>
            </a:srgbClr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2066544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00B4D8">
              <a:alpha val="25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2066544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#2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2066544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Treatment Cost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2057400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5" name="Shape 30"/>
          <p:cNvSpPr/>
          <p:nvPr/>
        </p:nvSpPr>
        <p:spPr>
          <a:xfrm>
            <a:off x="2057400" y="1901952"/>
            <a:ext cx="1536192" cy="36576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2057400" y="1938528"/>
            <a:ext cx="36576" cy="2523744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130552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AVG(hospital_bill)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avg_cost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CovidCases;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2057400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00B4D8">
              <a:alpha val="22000"/>
            </a:srgbClr>
          </a:solidFill>
          <a:ln/>
        </p:spPr>
      </p:sp>
      <p:sp>
        <p:nvSpPr>
          <p:cNvPr id="39" name="Text 34"/>
          <p:cNvSpPr/>
          <p:nvPr/>
        </p:nvSpPr>
        <p:spPr>
          <a:xfrm>
            <a:off x="2084832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AVG() aggregate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3694176" y="1005840"/>
            <a:ext cx="1664208" cy="3822192"/>
          </a:xfrm>
          <a:prstGeom prst="rect">
            <a:avLst/>
          </a:prstGeom>
          <a:solidFill>
            <a:srgbClr val="0A1A35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3694176" y="1005840"/>
            <a:ext cx="1664208" cy="91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3694176" y="4791456"/>
            <a:ext cx="1664208" cy="36576"/>
          </a:xfrm>
          <a:prstGeom prst="rect">
            <a:avLst/>
          </a:prstGeom>
          <a:solidFill>
            <a:srgbClr val="7B2FBE">
              <a:alpha val="4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694176" y="1097280"/>
            <a:ext cx="45720" cy="3694176"/>
          </a:xfrm>
          <a:prstGeom prst="rect">
            <a:avLst/>
          </a:prstGeom>
          <a:solidFill>
            <a:srgbClr val="7B2FBE">
              <a:alpha val="45000"/>
            </a:srgbClr>
          </a:solidFill>
          <a:ln w="12700">
            <a:solidFill>
              <a:srgbClr val="7B2FBE">
                <a:alpha val="4500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3767328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7B2FBE">
              <a:alpha val="25000"/>
            </a:srgbClr>
          </a:solidFill>
          <a:ln/>
        </p:spPr>
      </p:sp>
      <p:sp>
        <p:nvSpPr>
          <p:cNvPr id="45" name="Text 40"/>
          <p:cNvSpPr/>
          <p:nvPr/>
        </p:nvSpPr>
        <p:spPr>
          <a:xfrm>
            <a:off x="3767328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#3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3767328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with Highest Cases</a:t>
            </a:r>
            <a:endParaRPr lang="en-US" sz="900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4718304" y="1115568"/>
            <a:ext cx="530352" cy="384048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3758184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49" name="Shape 43"/>
          <p:cNvSpPr/>
          <p:nvPr/>
        </p:nvSpPr>
        <p:spPr>
          <a:xfrm>
            <a:off x="3758184" y="1901952"/>
            <a:ext cx="1536192" cy="36576"/>
          </a:xfrm>
          <a:prstGeom prst="rect">
            <a:avLst/>
          </a:prstGeom>
          <a:solidFill>
            <a:srgbClr val="7B2FBE">
              <a:alpha val="50000"/>
            </a:srgbClr>
          </a:solidFill>
          <a:ln w="12700">
            <a:solidFill>
              <a:srgbClr val="7B2FBE">
                <a:alpha val="5000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3758184" y="1938528"/>
            <a:ext cx="36576" cy="2523744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>
                <a:alpha val="60000"/>
              </a:srgbClr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3831336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p.city,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total_cases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 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CovidCases 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p.patient_id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=c.patient_id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p.city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total_cases DESC;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3758184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7B2FBE">
              <a:alpha val="22000"/>
            </a:srgbClr>
          </a:solidFill>
          <a:ln/>
        </p:spPr>
      </p:sp>
      <p:sp>
        <p:nvSpPr>
          <p:cNvPr id="53" name="Text 47"/>
          <p:cNvSpPr/>
          <p:nvPr/>
        </p:nvSpPr>
        <p:spPr>
          <a:xfrm>
            <a:off x="3785616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JOIN + GROUP BY</a:t>
            </a:r>
            <a:endParaRPr lang="en-US" sz="750" dirty="0"/>
          </a:p>
        </p:txBody>
      </p:sp>
      <p:sp>
        <p:nvSpPr>
          <p:cNvPr id="54" name="Shape 48"/>
          <p:cNvSpPr/>
          <p:nvPr/>
        </p:nvSpPr>
        <p:spPr>
          <a:xfrm>
            <a:off x="5394960" y="1005840"/>
            <a:ext cx="1664208" cy="3822192"/>
          </a:xfrm>
          <a:prstGeom prst="rect">
            <a:avLst/>
          </a:prstGeom>
          <a:solidFill>
            <a:srgbClr val="0D224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5" name="Shape 49"/>
          <p:cNvSpPr/>
          <p:nvPr/>
        </p:nvSpPr>
        <p:spPr>
          <a:xfrm>
            <a:off x="5394960" y="1005840"/>
            <a:ext cx="1664208" cy="914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5394960" y="4791456"/>
            <a:ext cx="1664208" cy="36576"/>
          </a:xfrm>
          <a:prstGeom prst="rect">
            <a:avLst/>
          </a:prstGeom>
          <a:solidFill>
            <a:srgbClr val="00C853">
              <a:alpha val="40000"/>
            </a:srgbClr>
          </a:solidFill>
          <a:ln w="12700">
            <a:solidFill>
              <a:srgbClr val="00C853">
                <a:alpha val="4000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5394960" y="1097280"/>
            <a:ext cx="45720" cy="3694176"/>
          </a:xfrm>
          <a:prstGeom prst="rect">
            <a:avLst/>
          </a:prstGeom>
          <a:solidFill>
            <a:srgbClr val="00C853">
              <a:alpha val="45000"/>
            </a:srgbClr>
          </a:solidFill>
          <a:ln w="12700">
            <a:solidFill>
              <a:srgbClr val="00C853">
                <a:alpha val="4500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5468112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00C853">
              <a:alpha val="25000"/>
            </a:srgbClr>
          </a:solidFill>
          <a:ln/>
        </p:spPr>
      </p:sp>
      <p:sp>
        <p:nvSpPr>
          <p:cNvPr id="59" name="Text 53"/>
          <p:cNvSpPr/>
          <p:nvPr/>
        </p:nvSpPr>
        <p:spPr>
          <a:xfrm>
            <a:off x="5468112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#4</a:t>
            </a:r>
            <a:endParaRPr lang="en-US" sz="1050" dirty="0"/>
          </a:p>
        </p:txBody>
      </p:sp>
      <p:sp>
        <p:nvSpPr>
          <p:cNvPr id="60" name="Text 54"/>
          <p:cNvSpPr/>
          <p:nvPr/>
        </p:nvSpPr>
        <p:spPr>
          <a:xfrm>
            <a:off x="5468112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Vaccinated vs Non-Vaccinated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5458968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62" name="Shape 56"/>
          <p:cNvSpPr/>
          <p:nvPr/>
        </p:nvSpPr>
        <p:spPr>
          <a:xfrm>
            <a:off x="5458968" y="1901952"/>
            <a:ext cx="1536192" cy="36576"/>
          </a:xfrm>
          <a:prstGeom prst="rect">
            <a:avLst/>
          </a:prstGeom>
          <a:solidFill>
            <a:srgbClr val="00C853">
              <a:alpha val="50000"/>
            </a:srgbClr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5458968" y="1938528"/>
            <a:ext cx="36576" cy="2523744"/>
          </a:xfrm>
          <a:prstGeom prst="rect">
            <a:avLst/>
          </a:prstGeom>
          <a:solidFill>
            <a:srgbClr val="00C853">
              <a:alpha val="60000"/>
            </a:srgbClr>
          </a:solidFill>
          <a:ln w="12700">
            <a:solidFill>
              <a:srgbClr val="00C853">
                <a:alpha val="60000"/>
              </a:srgbClr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5532120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D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vaccination_status,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CovidCases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vaccination_status;</a:t>
            </a:r>
            <a:endParaRPr lang="en-US" sz="900" dirty="0"/>
          </a:p>
        </p:txBody>
      </p:sp>
      <p:sp>
        <p:nvSpPr>
          <p:cNvPr id="65" name="Shape 59"/>
          <p:cNvSpPr/>
          <p:nvPr/>
        </p:nvSpPr>
        <p:spPr>
          <a:xfrm>
            <a:off x="5458968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00C853">
              <a:alpha val="22000"/>
            </a:srgbClr>
          </a:solidFill>
          <a:ln/>
        </p:spPr>
      </p:sp>
      <p:sp>
        <p:nvSpPr>
          <p:cNvPr id="66" name="Text 60"/>
          <p:cNvSpPr/>
          <p:nvPr/>
        </p:nvSpPr>
        <p:spPr>
          <a:xfrm>
            <a:off x="5486400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GROUP BY filter</a:t>
            </a:r>
            <a:endParaRPr lang="en-US" sz="750" dirty="0"/>
          </a:p>
        </p:txBody>
      </p:sp>
      <p:sp>
        <p:nvSpPr>
          <p:cNvPr id="67" name="Shape 61"/>
          <p:cNvSpPr/>
          <p:nvPr/>
        </p:nvSpPr>
        <p:spPr>
          <a:xfrm>
            <a:off x="7095744" y="1005840"/>
            <a:ext cx="1664208" cy="3822192"/>
          </a:xfrm>
          <a:prstGeom prst="rect">
            <a:avLst/>
          </a:prstGeom>
          <a:solidFill>
            <a:srgbClr val="09183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8" name="Shape 62"/>
          <p:cNvSpPr/>
          <p:nvPr/>
        </p:nvSpPr>
        <p:spPr>
          <a:xfrm>
            <a:off x="7095744" y="1005840"/>
            <a:ext cx="1664208" cy="9144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7095744" y="4791456"/>
            <a:ext cx="1664208" cy="36576"/>
          </a:xfrm>
          <a:prstGeom prst="rect">
            <a:avLst/>
          </a:prstGeom>
          <a:solidFill>
            <a:srgbClr val="FF6F00">
              <a:alpha val="40000"/>
            </a:srgbClr>
          </a:solidFill>
          <a:ln w="12700">
            <a:solidFill>
              <a:srgbClr val="FF6F00">
                <a:alpha val="4000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7095744" y="1097280"/>
            <a:ext cx="45720" cy="3694176"/>
          </a:xfrm>
          <a:prstGeom prst="rect">
            <a:avLst/>
          </a:prstGeom>
          <a:solidFill>
            <a:srgbClr val="FF6F00">
              <a:alpha val="45000"/>
            </a:srgbClr>
          </a:solidFill>
          <a:ln w="12700">
            <a:solidFill>
              <a:srgbClr val="FF6F00">
                <a:alpha val="45000"/>
              </a:srgbClr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7168896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FF6F00">
              <a:alpha val="25000"/>
            </a:srgbClr>
          </a:solidFill>
          <a:ln/>
        </p:spPr>
      </p:sp>
      <p:sp>
        <p:nvSpPr>
          <p:cNvPr id="72" name="Text 66"/>
          <p:cNvSpPr/>
          <p:nvPr/>
        </p:nvSpPr>
        <p:spPr>
          <a:xfrm>
            <a:off x="7168896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#5</a:t>
            </a:r>
            <a:endParaRPr lang="en-US" sz="1050" dirty="0"/>
          </a:p>
        </p:txBody>
      </p:sp>
      <p:sp>
        <p:nvSpPr>
          <p:cNvPr id="73" name="Text 67"/>
          <p:cNvSpPr/>
          <p:nvPr/>
        </p:nvSpPr>
        <p:spPr>
          <a:xfrm>
            <a:off x="7168896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900" dirty="0"/>
          </a:p>
        </p:txBody>
      </p:sp>
      <p:pic>
        <p:nvPicPr>
          <p:cNvPr id="74" name="Image 4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8119872" y="1115568"/>
            <a:ext cx="530352" cy="384048"/>
          </a:xfrm>
          <a:prstGeom prst="rect">
            <a:avLst/>
          </a:prstGeom>
        </p:spPr>
      </p:pic>
      <p:sp>
        <p:nvSpPr>
          <p:cNvPr id="75" name="Shape 68"/>
          <p:cNvSpPr/>
          <p:nvPr/>
        </p:nvSpPr>
        <p:spPr>
          <a:xfrm>
            <a:off x="7159752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76" name="Shape 69"/>
          <p:cNvSpPr/>
          <p:nvPr/>
        </p:nvSpPr>
        <p:spPr>
          <a:xfrm>
            <a:off x="7159752" y="1901952"/>
            <a:ext cx="1536192" cy="36576"/>
          </a:xfrm>
          <a:prstGeom prst="rect">
            <a:avLst/>
          </a:prstGeom>
          <a:solidFill>
            <a:srgbClr val="FF6F00">
              <a:alpha val="50000"/>
            </a:srgbClr>
          </a:solidFill>
          <a:ln w="12700">
            <a:solidFill>
              <a:srgbClr val="FF6F00">
                <a:alpha val="50000"/>
              </a:srgbClr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7159752" y="1938528"/>
            <a:ext cx="36576" cy="2523744"/>
          </a:xfrm>
          <a:prstGeom prst="rect">
            <a:avLst/>
          </a:prstGeom>
          <a:solidFill>
            <a:srgbClr val="FF6F00">
              <a:alpha val="60000"/>
            </a:srgbClr>
          </a:solidFill>
          <a:ln w="12700">
            <a:solidFill>
              <a:srgbClr val="FF6F00">
                <a:alpha val="60000"/>
              </a:srgbClr>
            </a:solidFill>
            <a:prstDash val="solid"/>
          </a:ln>
        </p:spPr>
      </p:sp>
      <p:sp>
        <p:nvSpPr>
          <p:cNvPr id="78" name="Text 71"/>
          <p:cNvSpPr/>
          <p:nvPr/>
        </p:nvSpPr>
        <p:spPr>
          <a:xfrm>
            <a:off x="7232904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status,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status;</a:t>
            </a:r>
            <a:endParaRPr lang="en-US" sz="900" dirty="0"/>
          </a:p>
        </p:txBody>
      </p:sp>
      <p:sp>
        <p:nvSpPr>
          <p:cNvPr id="79" name="Shape 72"/>
          <p:cNvSpPr/>
          <p:nvPr/>
        </p:nvSpPr>
        <p:spPr>
          <a:xfrm>
            <a:off x="7159752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FF6F00">
              <a:alpha val="22000"/>
            </a:srgbClr>
          </a:solidFill>
          <a:ln/>
        </p:spPr>
      </p:sp>
      <p:sp>
        <p:nvSpPr>
          <p:cNvPr id="80" name="Text 73"/>
          <p:cNvSpPr/>
          <p:nvPr/>
        </p:nvSpPr>
        <p:spPr>
          <a:xfrm>
            <a:off x="7187184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Status breakdown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F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91440"/>
            <a:ext cx="64008" cy="47548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00E676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3000" y="91440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SQL Insights #6 to #10</a:t>
            </a:r>
            <a:endParaRPr lang="en-US" sz="1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3152"/>
            <a:ext cx="713232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92608" y="749808"/>
            <a:ext cx="4389120" cy="228600"/>
          </a:xfrm>
          <a:prstGeom prst="roundRect">
            <a:avLst>
              <a:gd name="adj" fmla="val 24000"/>
            </a:avLst>
          </a:prstGeom>
          <a:solidFill>
            <a:srgbClr val="00E676">
              <a:alpha val="2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7498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Patient Health Insights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46320" y="758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Analysis, Critical Cases, Oxygen Patients, Highest Bill</a:t>
            </a:r>
            <a:endParaRPr lang="en-US" sz="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680960" y="749808"/>
            <a:ext cx="1261872" cy="95097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92608" y="1005840"/>
            <a:ext cx="1664208" cy="3822192"/>
          </a:xfrm>
          <a:prstGeom prst="rect">
            <a:avLst/>
          </a:prstGeom>
          <a:solidFill>
            <a:srgbClr val="0A201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2608" y="1005840"/>
            <a:ext cx="1664208" cy="914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92608" y="4791456"/>
            <a:ext cx="1664208" cy="36576"/>
          </a:xfrm>
          <a:prstGeom prst="rect">
            <a:avLst/>
          </a:prstGeom>
          <a:solidFill>
            <a:srgbClr val="00E676">
              <a:alpha val="40000"/>
            </a:srgbClr>
          </a:solidFill>
          <a:ln w="12700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92608" y="1097280"/>
            <a:ext cx="45720" cy="3694176"/>
          </a:xfrm>
          <a:prstGeom prst="rect">
            <a:avLst/>
          </a:prstGeom>
          <a:solidFill>
            <a:srgbClr val="00E676">
              <a:alpha val="45000"/>
            </a:srgbClr>
          </a:solidFill>
          <a:ln w="12700">
            <a:solidFill>
              <a:srgbClr val="00E676">
                <a:alpha val="4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00E676">
              <a:alpha val="25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#6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65760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of Patients</a:t>
            </a:r>
            <a:endParaRPr lang="en-US" sz="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316736" y="1115568"/>
            <a:ext cx="530352" cy="38404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56616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22" name="Shape 17"/>
          <p:cNvSpPr/>
          <p:nvPr/>
        </p:nvSpPr>
        <p:spPr>
          <a:xfrm>
            <a:off x="356616" y="1901952"/>
            <a:ext cx="1536192" cy="36576"/>
          </a:xfrm>
          <a:prstGeom prst="rect">
            <a:avLst/>
          </a:prstGeom>
          <a:solidFill>
            <a:srgbClr val="00E676">
              <a:alpha val="50000"/>
            </a:srgbClr>
          </a:solidFill>
          <a:ln w="12700">
            <a:solidFill>
              <a:srgbClr val="00E676">
                <a:alpha val="5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56616" y="1938528"/>
            <a:ext cx="36576" cy="2523744"/>
          </a:xfrm>
          <a:prstGeom prst="rect">
            <a:avLst/>
          </a:prstGeom>
          <a:solidFill>
            <a:srgbClr val="00E676">
              <a:alpha val="60000"/>
            </a:srgbClr>
          </a:solidFill>
          <a:ln w="12700">
            <a:solidFill>
              <a:srgbClr val="00E676">
                <a:alpha val="6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29768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AVG(age)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avg_age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Patients;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56616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00E676">
              <a:alpha val="22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384048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Simple AVG()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1993392" y="1005840"/>
            <a:ext cx="1664208" cy="3822192"/>
          </a:xfrm>
          <a:prstGeom prst="rect">
            <a:avLst/>
          </a:prstGeom>
          <a:solidFill>
            <a:srgbClr val="0D2518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993392" y="1005840"/>
            <a:ext cx="1664208" cy="91440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993392" y="4791456"/>
            <a:ext cx="1664208" cy="36576"/>
          </a:xfrm>
          <a:prstGeom prst="rect">
            <a:avLst/>
          </a:prstGeom>
          <a:solidFill>
            <a:srgbClr val="76FF03">
              <a:alpha val="40000"/>
            </a:srgbClr>
          </a:solidFill>
          <a:ln w="12700">
            <a:solidFill>
              <a:srgbClr val="76FF03">
                <a:alpha val="40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993392" y="1097280"/>
            <a:ext cx="45720" cy="3694176"/>
          </a:xfrm>
          <a:prstGeom prst="rect">
            <a:avLst/>
          </a:prstGeom>
          <a:solidFill>
            <a:srgbClr val="76FF03">
              <a:alpha val="45000"/>
            </a:srgbClr>
          </a:solidFill>
          <a:ln w="12700">
            <a:solidFill>
              <a:srgbClr val="76FF03">
                <a:alpha val="45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2066544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76FF03">
              <a:alpha val="25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2066544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#7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2066544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6FF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Affected Age Group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2057400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5" name="Shape 30"/>
          <p:cNvSpPr/>
          <p:nvPr/>
        </p:nvSpPr>
        <p:spPr>
          <a:xfrm>
            <a:off x="2057400" y="1901952"/>
            <a:ext cx="1536192" cy="36576"/>
          </a:xfrm>
          <a:prstGeom prst="rect">
            <a:avLst/>
          </a:prstGeom>
          <a:solidFill>
            <a:srgbClr val="76FF03">
              <a:alpha val="50000"/>
            </a:srgbClr>
          </a:solidFill>
          <a:ln w="12700">
            <a:solidFill>
              <a:srgbClr val="76FF03">
                <a:alpha val="5000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2057400" y="1938528"/>
            <a:ext cx="36576" cy="2523744"/>
          </a:xfrm>
          <a:prstGeom prst="rect">
            <a:avLst/>
          </a:prstGeom>
          <a:solidFill>
            <a:srgbClr val="76FF03">
              <a:alpha val="60000"/>
            </a:srgbClr>
          </a:solidFill>
          <a:ln w="12700">
            <a:solidFill>
              <a:srgbClr val="76FF03">
                <a:alpha val="6000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130552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8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age,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 DESC;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2057400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76FF03">
              <a:alpha val="22000"/>
            </a:srgbClr>
          </a:solidFill>
          <a:ln/>
        </p:spPr>
      </p:sp>
      <p:sp>
        <p:nvSpPr>
          <p:cNvPr id="39" name="Text 34"/>
          <p:cNvSpPr/>
          <p:nvPr/>
        </p:nvSpPr>
        <p:spPr>
          <a:xfrm>
            <a:off x="2084832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GROUP BY + ORDER BY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3694176" y="1005840"/>
            <a:ext cx="1664208" cy="3822192"/>
          </a:xfrm>
          <a:prstGeom prst="rect">
            <a:avLst/>
          </a:prstGeom>
          <a:solidFill>
            <a:srgbClr val="091F1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3694176" y="1005840"/>
            <a:ext cx="1664208" cy="91440"/>
          </a:xfrm>
          <a:prstGeom prst="rect">
            <a:avLst/>
          </a:prstGeom>
          <a:solidFill>
            <a:srgbClr val="F50057"/>
          </a:solidFill>
          <a:ln w="12700">
            <a:solidFill>
              <a:srgbClr val="F50057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3694176" y="4791456"/>
            <a:ext cx="1664208" cy="36576"/>
          </a:xfrm>
          <a:prstGeom prst="rect">
            <a:avLst/>
          </a:prstGeom>
          <a:solidFill>
            <a:srgbClr val="F50057">
              <a:alpha val="40000"/>
            </a:srgbClr>
          </a:solidFill>
          <a:ln w="12700">
            <a:solidFill>
              <a:srgbClr val="F50057">
                <a:alpha val="4000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694176" y="1097280"/>
            <a:ext cx="45720" cy="3694176"/>
          </a:xfrm>
          <a:prstGeom prst="rect">
            <a:avLst/>
          </a:prstGeom>
          <a:solidFill>
            <a:srgbClr val="F50057">
              <a:alpha val="45000"/>
            </a:srgbClr>
          </a:solidFill>
          <a:ln w="12700">
            <a:solidFill>
              <a:srgbClr val="F50057">
                <a:alpha val="4500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3767328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F50057">
              <a:alpha val="25000"/>
            </a:srgbClr>
          </a:solidFill>
          <a:ln/>
        </p:spPr>
      </p:sp>
      <p:sp>
        <p:nvSpPr>
          <p:cNvPr id="45" name="Text 40"/>
          <p:cNvSpPr/>
          <p:nvPr/>
        </p:nvSpPr>
        <p:spPr>
          <a:xfrm>
            <a:off x="3767328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#8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3767328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0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Patients Count</a:t>
            </a:r>
            <a:endParaRPr lang="en-US" sz="900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4718304" y="1115568"/>
            <a:ext cx="530352" cy="384048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3758184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49" name="Shape 43"/>
          <p:cNvSpPr/>
          <p:nvPr/>
        </p:nvSpPr>
        <p:spPr>
          <a:xfrm>
            <a:off x="3758184" y="1901952"/>
            <a:ext cx="1536192" cy="36576"/>
          </a:xfrm>
          <a:prstGeom prst="rect">
            <a:avLst/>
          </a:prstGeom>
          <a:solidFill>
            <a:srgbClr val="F50057">
              <a:alpha val="50000"/>
            </a:srgbClr>
          </a:solidFill>
          <a:ln w="12700">
            <a:solidFill>
              <a:srgbClr val="F50057">
                <a:alpha val="5000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3758184" y="1938528"/>
            <a:ext cx="36576" cy="2523744"/>
          </a:xfrm>
          <a:prstGeom prst="rect">
            <a:avLst/>
          </a:prstGeom>
          <a:solidFill>
            <a:srgbClr val="F50057">
              <a:alpha val="60000"/>
            </a:srgbClr>
          </a:solidFill>
          <a:ln w="12700">
            <a:solidFill>
              <a:srgbClr val="F50057">
                <a:alpha val="60000"/>
              </a:srgbClr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3831336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C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critical_cases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status='Critical';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3758184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F50057">
              <a:alpha val="22000"/>
            </a:srgbClr>
          </a:solidFill>
          <a:ln/>
        </p:spPr>
      </p:sp>
      <p:sp>
        <p:nvSpPr>
          <p:cNvPr id="53" name="Text 47"/>
          <p:cNvSpPr/>
          <p:nvPr/>
        </p:nvSpPr>
        <p:spPr>
          <a:xfrm>
            <a:off x="3785616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COUNT + WHERE</a:t>
            </a:r>
            <a:endParaRPr lang="en-US" sz="750" dirty="0"/>
          </a:p>
        </p:txBody>
      </p:sp>
      <p:sp>
        <p:nvSpPr>
          <p:cNvPr id="54" name="Shape 48"/>
          <p:cNvSpPr/>
          <p:nvPr/>
        </p:nvSpPr>
        <p:spPr>
          <a:xfrm>
            <a:off x="5394960" y="1005840"/>
            <a:ext cx="1664208" cy="3822192"/>
          </a:xfrm>
          <a:prstGeom prst="rect">
            <a:avLst/>
          </a:prstGeom>
          <a:solidFill>
            <a:srgbClr val="0A2215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5" name="Shape 49"/>
          <p:cNvSpPr/>
          <p:nvPr/>
        </p:nvSpPr>
        <p:spPr>
          <a:xfrm>
            <a:off x="5394960" y="1005840"/>
            <a:ext cx="1664208" cy="91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5394960" y="4791456"/>
            <a:ext cx="1664208" cy="36576"/>
          </a:xfrm>
          <a:prstGeom prst="rect">
            <a:avLst/>
          </a:prstGeom>
          <a:solidFill>
            <a:srgbClr val="00BCD4">
              <a:alpha val="4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5394960" y="1097280"/>
            <a:ext cx="45720" cy="3694176"/>
          </a:xfrm>
          <a:prstGeom prst="rect">
            <a:avLst/>
          </a:prstGeom>
          <a:solidFill>
            <a:srgbClr val="00BCD4">
              <a:alpha val="45000"/>
            </a:srgbClr>
          </a:solidFill>
          <a:ln w="12700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5468112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00BCD4">
              <a:alpha val="25000"/>
            </a:srgbClr>
          </a:solidFill>
          <a:ln/>
        </p:spPr>
      </p:sp>
      <p:sp>
        <p:nvSpPr>
          <p:cNvPr id="59" name="Text 53"/>
          <p:cNvSpPr/>
          <p:nvPr/>
        </p:nvSpPr>
        <p:spPr>
          <a:xfrm>
            <a:off x="5468112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🫁 #9</a:t>
            </a:r>
            <a:endParaRPr lang="en-US" sz="1050" dirty="0"/>
          </a:p>
        </p:txBody>
      </p:sp>
      <p:sp>
        <p:nvSpPr>
          <p:cNvPr id="60" name="Text 54"/>
          <p:cNvSpPr/>
          <p:nvPr/>
        </p:nvSpPr>
        <p:spPr>
          <a:xfrm>
            <a:off x="5468112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Needing Oxygen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5458968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62" name="Shape 56"/>
          <p:cNvSpPr/>
          <p:nvPr/>
        </p:nvSpPr>
        <p:spPr>
          <a:xfrm>
            <a:off x="5458968" y="1901952"/>
            <a:ext cx="1536192" cy="36576"/>
          </a:xfrm>
          <a:prstGeom prst="rect">
            <a:avLst/>
          </a:prstGeom>
          <a:solidFill>
            <a:srgbClr val="00BCD4">
              <a:alpha val="50000"/>
            </a:srgbClr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5458968" y="1938528"/>
            <a:ext cx="36576" cy="2523744"/>
          </a:xfrm>
          <a:prstGeom prst="rect">
            <a:avLst/>
          </a:prstGeom>
          <a:solidFill>
            <a:srgbClr val="00BCD4">
              <a:alpha val="60000"/>
            </a:srgbClr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5532120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oxygen_patients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CovidCases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oxygen_required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='Yes';</a:t>
            </a:r>
            <a:endParaRPr lang="en-US" sz="900" dirty="0"/>
          </a:p>
        </p:txBody>
      </p:sp>
      <p:sp>
        <p:nvSpPr>
          <p:cNvPr id="65" name="Shape 59"/>
          <p:cNvSpPr/>
          <p:nvPr/>
        </p:nvSpPr>
        <p:spPr>
          <a:xfrm>
            <a:off x="5458968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00BCD4">
              <a:alpha val="22000"/>
            </a:srgbClr>
          </a:solidFill>
          <a:ln/>
        </p:spPr>
      </p:sp>
      <p:sp>
        <p:nvSpPr>
          <p:cNvPr id="66" name="Text 60"/>
          <p:cNvSpPr/>
          <p:nvPr/>
        </p:nvSpPr>
        <p:spPr>
          <a:xfrm>
            <a:off x="5486400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WHERE filter</a:t>
            </a:r>
            <a:endParaRPr lang="en-US" sz="750" dirty="0"/>
          </a:p>
        </p:txBody>
      </p:sp>
      <p:sp>
        <p:nvSpPr>
          <p:cNvPr id="67" name="Shape 61"/>
          <p:cNvSpPr/>
          <p:nvPr/>
        </p:nvSpPr>
        <p:spPr>
          <a:xfrm>
            <a:off x="7095744" y="1005840"/>
            <a:ext cx="1664208" cy="3822192"/>
          </a:xfrm>
          <a:prstGeom prst="rect">
            <a:avLst/>
          </a:prstGeom>
          <a:solidFill>
            <a:srgbClr val="0C201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8" name="Shape 62"/>
          <p:cNvSpPr/>
          <p:nvPr/>
        </p:nvSpPr>
        <p:spPr>
          <a:xfrm>
            <a:off x="7095744" y="1005840"/>
            <a:ext cx="1664208" cy="91440"/>
          </a:xfrm>
          <a:prstGeom prst="rect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7095744" y="4791456"/>
            <a:ext cx="1664208" cy="36576"/>
          </a:xfrm>
          <a:prstGeom prst="rect">
            <a:avLst/>
          </a:prstGeom>
          <a:solidFill>
            <a:srgbClr val="FFAB40">
              <a:alpha val="40000"/>
            </a:srgbClr>
          </a:solidFill>
          <a:ln w="12700">
            <a:solidFill>
              <a:srgbClr val="FFAB40">
                <a:alpha val="4000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7095744" y="1097280"/>
            <a:ext cx="45720" cy="3694176"/>
          </a:xfrm>
          <a:prstGeom prst="rect">
            <a:avLst/>
          </a:prstGeom>
          <a:solidFill>
            <a:srgbClr val="FFAB40">
              <a:alpha val="45000"/>
            </a:srgbClr>
          </a:solidFill>
          <a:ln w="12700">
            <a:solidFill>
              <a:srgbClr val="FFAB40">
                <a:alpha val="45000"/>
              </a:srgbClr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7168896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FFAB40">
              <a:alpha val="25000"/>
            </a:srgbClr>
          </a:solidFill>
          <a:ln/>
        </p:spPr>
      </p:sp>
      <p:sp>
        <p:nvSpPr>
          <p:cNvPr id="72" name="Text 66"/>
          <p:cNvSpPr/>
          <p:nvPr/>
        </p:nvSpPr>
        <p:spPr>
          <a:xfrm>
            <a:off x="7168896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#10</a:t>
            </a:r>
            <a:endParaRPr lang="en-US" sz="1050" dirty="0"/>
          </a:p>
        </p:txBody>
      </p:sp>
      <p:sp>
        <p:nvSpPr>
          <p:cNvPr id="73" name="Text 67"/>
          <p:cNvSpPr/>
          <p:nvPr/>
        </p:nvSpPr>
        <p:spPr>
          <a:xfrm>
            <a:off x="7168896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Treatment Cost</a:t>
            </a:r>
            <a:endParaRPr lang="en-US" sz="900" dirty="0"/>
          </a:p>
        </p:txBody>
      </p:sp>
      <p:pic>
        <p:nvPicPr>
          <p:cNvPr id="74" name="Image 4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8119872" y="1115568"/>
            <a:ext cx="530352" cy="384048"/>
          </a:xfrm>
          <a:prstGeom prst="rect">
            <a:avLst/>
          </a:prstGeom>
        </p:spPr>
      </p:pic>
      <p:sp>
        <p:nvSpPr>
          <p:cNvPr id="75" name="Shape 68"/>
          <p:cNvSpPr/>
          <p:nvPr/>
        </p:nvSpPr>
        <p:spPr>
          <a:xfrm>
            <a:off x="7159752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76" name="Shape 69"/>
          <p:cNvSpPr/>
          <p:nvPr/>
        </p:nvSpPr>
        <p:spPr>
          <a:xfrm>
            <a:off x="7159752" y="1901952"/>
            <a:ext cx="1536192" cy="36576"/>
          </a:xfrm>
          <a:prstGeom prst="rect">
            <a:avLst/>
          </a:prstGeom>
          <a:solidFill>
            <a:srgbClr val="FFAB40">
              <a:alpha val="50000"/>
            </a:srgbClr>
          </a:solidFill>
          <a:ln w="12700">
            <a:solidFill>
              <a:srgbClr val="FFAB40">
                <a:alpha val="50000"/>
              </a:srgbClr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7159752" y="1938528"/>
            <a:ext cx="36576" cy="2523744"/>
          </a:xfrm>
          <a:prstGeom prst="rect">
            <a:avLst/>
          </a:prstGeom>
          <a:solidFill>
            <a:srgbClr val="FFAB40">
              <a:alpha val="60000"/>
            </a:srgbClr>
          </a:solidFill>
          <a:ln w="12700">
            <a:solidFill>
              <a:srgbClr val="FFAB40">
                <a:alpha val="60000"/>
              </a:srgbClr>
            </a:solidFill>
            <a:prstDash val="solid"/>
          </a:ln>
        </p:spPr>
      </p:sp>
      <p:sp>
        <p:nvSpPr>
          <p:cNvPr id="78" name="Text 71"/>
          <p:cNvSpPr/>
          <p:nvPr/>
        </p:nvSpPr>
        <p:spPr>
          <a:xfrm>
            <a:off x="7232904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MAX(hospital_bill)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highest_bill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CovidCases;</a:t>
            </a:r>
            <a:endParaRPr lang="en-US" sz="900" dirty="0"/>
          </a:p>
        </p:txBody>
      </p:sp>
      <p:sp>
        <p:nvSpPr>
          <p:cNvPr id="79" name="Shape 72"/>
          <p:cNvSpPr/>
          <p:nvPr/>
        </p:nvSpPr>
        <p:spPr>
          <a:xfrm>
            <a:off x="7159752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FFAB40">
              <a:alpha val="22000"/>
            </a:srgbClr>
          </a:solidFill>
          <a:ln/>
        </p:spPr>
      </p:sp>
      <p:sp>
        <p:nvSpPr>
          <p:cNvPr id="80" name="Text 73"/>
          <p:cNvSpPr/>
          <p:nvPr/>
        </p:nvSpPr>
        <p:spPr>
          <a:xfrm>
            <a:off x="7187184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MAX() aggregate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0A2A"/>
          </a:solidFill>
          <a:ln w="12700">
            <a:solidFill>
              <a:srgbClr val="160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91440"/>
            <a:ext cx="64008" cy="475488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E040FB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3000" y="91440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SQL Insights #11 to #15</a:t>
            </a:r>
            <a:endParaRPr lang="en-US" sz="1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3152"/>
            <a:ext cx="713232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92608" y="749808"/>
            <a:ext cx="4389120" cy="228600"/>
          </a:xfrm>
          <a:prstGeom prst="roundRect">
            <a:avLst>
              <a:gd name="adj" fmla="val 24000"/>
            </a:avLst>
          </a:prstGeom>
          <a:solidFill>
            <a:srgbClr val="E040FB">
              <a:alpha val="2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7498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Trends &amp; Distribution Analysis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46320" y="758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Trends, Gender, Hospital Stay, Severity, City Revenue</a:t>
            </a:r>
            <a:endParaRPr lang="en-US" sz="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680960" y="749808"/>
            <a:ext cx="1261872" cy="95097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92608" y="1005840"/>
            <a:ext cx="1664208" cy="3822192"/>
          </a:xfrm>
          <a:prstGeom prst="rect">
            <a:avLst/>
          </a:prstGeom>
          <a:solidFill>
            <a:srgbClr val="160A2A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2608" y="1005840"/>
            <a:ext cx="1664208" cy="9144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92608" y="4791456"/>
            <a:ext cx="1664208" cy="36576"/>
          </a:xfrm>
          <a:prstGeom prst="rect">
            <a:avLst/>
          </a:prstGeom>
          <a:solidFill>
            <a:srgbClr val="E040FB">
              <a:alpha val="40000"/>
            </a:srgbClr>
          </a:solidFill>
          <a:ln w="12700">
            <a:solidFill>
              <a:srgbClr val="E040FB">
                <a:alpha val="4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92608" y="1097280"/>
            <a:ext cx="45720" cy="3694176"/>
          </a:xfrm>
          <a:prstGeom prst="rect">
            <a:avLst/>
          </a:prstGeom>
          <a:solidFill>
            <a:srgbClr val="E040FB">
              <a:alpha val="45000"/>
            </a:srgbClr>
          </a:solidFill>
          <a:ln w="12700">
            <a:solidFill>
              <a:srgbClr val="E040FB">
                <a:alpha val="4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E040FB">
              <a:alpha val="25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#11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65760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Admission Trends</a:t>
            </a:r>
            <a:endParaRPr lang="en-US" sz="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316736" y="1115568"/>
            <a:ext cx="530352" cy="38404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56616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22" name="Shape 17"/>
          <p:cNvSpPr/>
          <p:nvPr/>
        </p:nvSpPr>
        <p:spPr>
          <a:xfrm>
            <a:off x="356616" y="1901952"/>
            <a:ext cx="1536192" cy="36576"/>
          </a:xfrm>
          <a:prstGeom prst="rect">
            <a:avLst/>
          </a:prstGeom>
          <a:solidFill>
            <a:srgbClr val="E040FB">
              <a:alpha val="50000"/>
            </a:srgbClr>
          </a:solidFill>
          <a:ln w="12700">
            <a:solidFill>
              <a:srgbClr val="E040FB">
                <a:alpha val="5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56616" y="1938528"/>
            <a:ext cx="36576" cy="2523744"/>
          </a:xfrm>
          <a:prstGeom prst="rect">
            <a:avLst/>
          </a:prstGeom>
          <a:solidFill>
            <a:srgbClr val="E040FB">
              <a:alpha val="60000"/>
            </a:srgbClr>
          </a:solidFill>
          <a:ln w="12700">
            <a:solidFill>
              <a:srgbClr val="E040FB">
                <a:alpha val="6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29768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7F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MONTHNAME(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admission_date)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month,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admissions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month;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56616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E040FB">
              <a:alpha val="22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384048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MONTHNAME() date fn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1993392" y="1005840"/>
            <a:ext cx="1664208" cy="3822192"/>
          </a:xfrm>
          <a:prstGeom prst="rect">
            <a:avLst/>
          </a:prstGeom>
          <a:solidFill>
            <a:srgbClr val="12082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993392" y="1005840"/>
            <a:ext cx="1664208" cy="9144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993392" y="4791456"/>
            <a:ext cx="1664208" cy="36576"/>
          </a:xfrm>
          <a:prstGeom prst="rect">
            <a:avLst/>
          </a:prstGeom>
          <a:solidFill>
            <a:srgbClr val="7C4DFF">
              <a:alpha val="40000"/>
            </a:srgbClr>
          </a:solidFill>
          <a:ln w="12700">
            <a:solidFill>
              <a:srgbClr val="7C4DFF">
                <a:alpha val="40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993392" y="1097280"/>
            <a:ext cx="45720" cy="3694176"/>
          </a:xfrm>
          <a:prstGeom prst="rect">
            <a:avLst/>
          </a:prstGeom>
          <a:solidFill>
            <a:srgbClr val="7C4DFF">
              <a:alpha val="45000"/>
            </a:srgbClr>
          </a:solidFill>
          <a:ln w="12700">
            <a:solidFill>
              <a:srgbClr val="7C4DFF">
                <a:alpha val="45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2066544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7C4DFF">
              <a:alpha val="25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2066544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👫 #12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2066544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Gender-wise Distribution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2057400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5" name="Shape 30"/>
          <p:cNvSpPr/>
          <p:nvPr/>
        </p:nvSpPr>
        <p:spPr>
          <a:xfrm>
            <a:off x="2057400" y="1901952"/>
            <a:ext cx="1536192" cy="36576"/>
          </a:xfrm>
          <a:prstGeom prst="rect">
            <a:avLst/>
          </a:prstGeom>
          <a:solidFill>
            <a:srgbClr val="7C4DFF">
              <a:alpha val="50000"/>
            </a:srgbClr>
          </a:solidFill>
          <a:ln w="12700">
            <a:solidFill>
              <a:srgbClr val="7C4DFF">
                <a:alpha val="5000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2057400" y="1938528"/>
            <a:ext cx="36576" cy="2523744"/>
          </a:xfrm>
          <a:prstGeom prst="rect">
            <a:avLst/>
          </a:prstGeom>
          <a:solidFill>
            <a:srgbClr val="7C4DFF">
              <a:alpha val="60000"/>
            </a:srgbClr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130552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gender,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gender;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2057400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7C4DFF">
              <a:alpha val="22000"/>
            </a:srgbClr>
          </a:solidFill>
          <a:ln/>
        </p:spPr>
      </p:sp>
      <p:sp>
        <p:nvSpPr>
          <p:cNvPr id="39" name="Text 34"/>
          <p:cNvSpPr/>
          <p:nvPr/>
        </p:nvSpPr>
        <p:spPr>
          <a:xfrm>
            <a:off x="2084832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Demographic split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3694176" y="1005840"/>
            <a:ext cx="1664208" cy="3822192"/>
          </a:xfrm>
          <a:prstGeom prst="rect">
            <a:avLst/>
          </a:prstGeom>
          <a:solidFill>
            <a:srgbClr val="1A0A28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3694176" y="1005840"/>
            <a:ext cx="1664208" cy="9144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3694176" y="4791456"/>
            <a:ext cx="1664208" cy="36576"/>
          </a:xfrm>
          <a:prstGeom prst="rect">
            <a:avLst/>
          </a:prstGeom>
          <a:solidFill>
            <a:srgbClr val="FF4081">
              <a:alpha val="40000"/>
            </a:srgbClr>
          </a:solidFill>
          <a:ln w="12700">
            <a:solidFill>
              <a:srgbClr val="FF4081">
                <a:alpha val="4000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694176" y="1097280"/>
            <a:ext cx="45720" cy="3694176"/>
          </a:xfrm>
          <a:prstGeom prst="rect">
            <a:avLst/>
          </a:prstGeom>
          <a:solidFill>
            <a:srgbClr val="FF4081">
              <a:alpha val="45000"/>
            </a:srgbClr>
          </a:solidFill>
          <a:ln w="12700">
            <a:solidFill>
              <a:srgbClr val="FF4081">
                <a:alpha val="4500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3767328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FF4081">
              <a:alpha val="25000"/>
            </a:srgbClr>
          </a:solidFill>
          <a:ln/>
        </p:spPr>
      </p:sp>
      <p:sp>
        <p:nvSpPr>
          <p:cNvPr id="45" name="Text 40"/>
          <p:cNvSpPr/>
          <p:nvPr/>
        </p:nvSpPr>
        <p:spPr>
          <a:xfrm>
            <a:off x="3767328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#13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3767328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Hospital Stay</a:t>
            </a:r>
            <a:endParaRPr lang="en-US" sz="900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4718304" y="1115568"/>
            <a:ext cx="530352" cy="384048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3758184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49" name="Shape 43"/>
          <p:cNvSpPr/>
          <p:nvPr/>
        </p:nvSpPr>
        <p:spPr>
          <a:xfrm>
            <a:off x="3758184" y="1901952"/>
            <a:ext cx="1536192" cy="36576"/>
          </a:xfrm>
          <a:prstGeom prst="rect">
            <a:avLst/>
          </a:prstGeom>
          <a:solidFill>
            <a:srgbClr val="FF4081">
              <a:alpha val="50000"/>
            </a:srgbClr>
          </a:solidFill>
          <a:ln w="12700">
            <a:solidFill>
              <a:srgbClr val="FF4081">
                <a:alpha val="5000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3758184" y="1938528"/>
            <a:ext cx="36576" cy="2523744"/>
          </a:xfrm>
          <a:prstGeom prst="rect">
            <a:avLst/>
          </a:prstGeom>
          <a:solidFill>
            <a:srgbClr val="FF4081">
              <a:alpha val="60000"/>
            </a:srgbClr>
          </a:solidFill>
          <a:ln w="12700">
            <a:solidFill>
              <a:srgbClr val="FF4081">
                <a:alpha val="60000"/>
              </a:srgbClr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3831336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AVG(DATEDIFF(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discharge_date,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admission_date))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avg_stay_days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discharge_date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 NOT NULL;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3758184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FF4081">
              <a:alpha val="22000"/>
            </a:srgbClr>
          </a:solidFill>
          <a:ln/>
        </p:spPr>
      </p:sp>
      <p:sp>
        <p:nvSpPr>
          <p:cNvPr id="53" name="Text 47"/>
          <p:cNvSpPr/>
          <p:nvPr/>
        </p:nvSpPr>
        <p:spPr>
          <a:xfrm>
            <a:off x="3785616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DATEDIFF() function</a:t>
            </a:r>
            <a:endParaRPr lang="en-US" sz="750" dirty="0"/>
          </a:p>
        </p:txBody>
      </p:sp>
      <p:sp>
        <p:nvSpPr>
          <p:cNvPr id="54" name="Shape 48"/>
          <p:cNvSpPr/>
          <p:nvPr/>
        </p:nvSpPr>
        <p:spPr>
          <a:xfrm>
            <a:off x="5394960" y="1005840"/>
            <a:ext cx="1664208" cy="3822192"/>
          </a:xfrm>
          <a:prstGeom prst="rect">
            <a:avLst/>
          </a:prstGeom>
          <a:solidFill>
            <a:srgbClr val="14082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5" name="Shape 49"/>
          <p:cNvSpPr/>
          <p:nvPr/>
        </p:nvSpPr>
        <p:spPr>
          <a:xfrm>
            <a:off x="5394960" y="1005840"/>
            <a:ext cx="1664208" cy="91440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5394960" y="4791456"/>
            <a:ext cx="1664208" cy="36576"/>
          </a:xfrm>
          <a:prstGeom prst="rect">
            <a:avLst/>
          </a:prstGeom>
          <a:solidFill>
            <a:srgbClr val="40C4FF">
              <a:alpha val="40000"/>
            </a:srgbClr>
          </a:solidFill>
          <a:ln w="12700">
            <a:solidFill>
              <a:srgbClr val="40C4FF">
                <a:alpha val="4000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5394960" y="1097280"/>
            <a:ext cx="45720" cy="3694176"/>
          </a:xfrm>
          <a:prstGeom prst="rect">
            <a:avLst/>
          </a:prstGeom>
          <a:solidFill>
            <a:srgbClr val="40C4FF">
              <a:alpha val="45000"/>
            </a:srgbClr>
          </a:solidFill>
          <a:ln w="12700">
            <a:solidFill>
              <a:srgbClr val="40C4FF">
                <a:alpha val="4500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5468112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40C4FF">
              <a:alpha val="25000"/>
            </a:srgbClr>
          </a:solidFill>
          <a:ln/>
        </p:spPr>
      </p:sp>
      <p:sp>
        <p:nvSpPr>
          <p:cNvPr id="59" name="Text 53"/>
          <p:cNvSpPr/>
          <p:nvPr/>
        </p:nvSpPr>
        <p:spPr>
          <a:xfrm>
            <a:off x="5468112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#14</a:t>
            </a:r>
            <a:endParaRPr lang="en-US" sz="1050" dirty="0"/>
          </a:p>
        </p:txBody>
      </p:sp>
      <p:sp>
        <p:nvSpPr>
          <p:cNvPr id="60" name="Text 54"/>
          <p:cNvSpPr/>
          <p:nvPr/>
        </p:nvSpPr>
        <p:spPr>
          <a:xfrm>
            <a:off x="5468112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Distribution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5458968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62" name="Shape 56"/>
          <p:cNvSpPr/>
          <p:nvPr/>
        </p:nvSpPr>
        <p:spPr>
          <a:xfrm>
            <a:off x="5458968" y="1901952"/>
            <a:ext cx="1536192" cy="36576"/>
          </a:xfrm>
          <a:prstGeom prst="rect">
            <a:avLst/>
          </a:prstGeom>
          <a:solidFill>
            <a:srgbClr val="40C4FF">
              <a:alpha val="50000"/>
            </a:srgbClr>
          </a:solidFill>
          <a:ln w="12700">
            <a:solidFill>
              <a:srgbClr val="40C4FF">
                <a:alpha val="5000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5458968" y="1938528"/>
            <a:ext cx="36576" cy="2523744"/>
          </a:xfrm>
          <a:prstGeom prst="rect">
            <a:avLst/>
          </a:prstGeom>
          <a:solidFill>
            <a:srgbClr val="40C4FF">
              <a:alpha val="60000"/>
            </a:srgbClr>
          </a:solidFill>
          <a:ln w="12700">
            <a:solidFill>
              <a:srgbClr val="40C4FF">
                <a:alpha val="60000"/>
              </a:srgbClr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5532120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severity,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total_cases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CovidCases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severity;</a:t>
            </a:r>
            <a:endParaRPr lang="en-US" sz="900" dirty="0"/>
          </a:p>
        </p:txBody>
      </p:sp>
      <p:sp>
        <p:nvSpPr>
          <p:cNvPr id="65" name="Shape 59"/>
          <p:cNvSpPr/>
          <p:nvPr/>
        </p:nvSpPr>
        <p:spPr>
          <a:xfrm>
            <a:off x="5458968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40C4FF">
              <a:alpha val="22000"/>
            </a:srgbClr>
          </a:solidFill>
          <a:ln/>
        </p:spPr>
      </p:sp>
      <p:sp>
        <p:nvSpPr>
          <p:cNvPr id="66" name="Text 60"/>
          <p:cNvSpPr/>
          <p:nvPr/>
        </p:nvSpPr>
        <p:spPr>
          <a:xfrm>
            <a:off x="5486400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Severity breakdown</a:t>
            </a:r>
            <a:endParaRPr lang="en-US" sz="750" dirty="0"/>
          </a:p>
        </p:txBody>
      </p:sp>
      <p:sp>
        <p:nvSpPr>
          <p:cNvPr id="67" name="Shape 61"/>
          <p:cNvSpPr/>
          <p:nvPr/>
        </p:nvSpPr>
        <p:spPr>
          <a:xfrm>
            <a:off x="7095744" y="1005840"/>
            <a:ext cx="1664208" cy="3822192"/>
          </a:xfrm>
          <a:prstGeom prst="rect">
            <a:avLst/>
          </a:prstGeom>
          <a:solidFill>
            <a:srgbClr val="120828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8" name="Shape 62"/>
          <p:cNvSpPr/>
          <p:nvPr/>
        </p:nvSpPr>
        <p:spPr>
          <a:xfrm>
            <a:off x="7095744" y="1005840"/>
            <a:ext cx="1664208" cy="91440"/>
          </a:xfrm>
          <a:prstGeom prst="rect">
            <a:avLst/>
          </a:prstGeom>
          <a:solidFill>
            <a:srgbClr val="FFEA00"/>
          </a:solidFill>
          <a:ln w="12700">
            <a:solidFill>
              <a:srgbClr val="FFEA00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7095744" y="4791456"/>
            <a:ext cx="1664208" cy="36576"/>
          </a:xfrm>
          <a:prstGeom prst="rect">
            <a:avLst/>
          </a:prstGeom>
          <a:solidFill>
            <a:srgbClr val="FFEA00">
              <a:alpha val="40000"/>
            </a:srgbClr>
          </a:solidFill>
          <a:ln w="12700">
            <a:solidFill>
              <a:srgbClr val="FFEA00">
                <a:alpha val="4000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7095744" y="1097280"/>
            <a:ext cx="45720" cy="3694176"/>
          </a:xfrm>
          <a:prstGeom prst="rect">
            <a:avLst/>
          </a:prstGeom>
          <a:solidFill>
            <a:srgbClr val="FFEA00">
              <a:alpha val="45000"/>
            </a:srgbClr>
          </a:solidFill>
          <a:ln w="12700">
            <a:solidFill>
              <a:srgbClr val="FFEA00">
                <a:alpha val="45000"/>
              </a:srgbClr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7168896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FFEA00">
              <a:alpha val="25000"/>
            </a:srgbClr>
          </a:solidFill>
          <a:ln/>
        </p:spPr>
      </p:sp>
      <p:sp>
        <p:nvSpPr>
          <p:cNvPr id="72" name="Text 66"/>
          <p:cNvSpPr/>
          <p:nvPr/>
        </p:nvSpPr>
        <p:spPr>
          <a:xfrm>
            <a:off x="7168896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#15</a:t>
            </a:r>
            <a:endParaRPr lang="en-US" sz="1050" dirty="0"/>
          </a:p>
        </p:txBody>
      </p:sp>
      <p:sp>
        <p:nvSpPr>
          <p:cNvPr id="73" name="Text 67"/>
          <p:cNvSpPr/>
          <p:nvPr/>
        </p:nvSpPr>
        <p:spPr>
          <a:xfrm>
            <a:off x="7168896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E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City</a:t>
            </a:r>
            <a:endParaRPr lang="en-US" sz="900" dirty="0"/>
          </a:p>
        </p:txBody>
      </p:sp>
      <p:pic>
        <p:nvPicPr>
          <p:cNvPr id="74" name="Image 4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8119872" y="1115568"/>
            <a:ext cx="530352" cy="384048"/>
          </a:xfrm>
          <a:prstGeom prst="rect">
            <a:avLst/>
          </a:prstGeom>
        </p:spPr>
      </p:pic>
      <p:sp>
        <p:nvSpPr>
          <p:cNvPr id="75" name="Shape 68"/>
          <p:cNvSpPr/>
          <p:nvPr/>
        </p:nvSpPr>
        <p:spPr>
          <a:xfrm>
            <a:off x="7159752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76" name="Shape 69"/>
          <p:cNvSpPr/>
          <p:nvPr/>
        </p:nvSpPr>
        <p:spPr>
          <a:xfrm>
            <a:off x="7159752" y="1901952"/>
            <a:ext cx="1536192" cy="36576"/>
          </a:xfrm>
          <a:prstGeom prst="rect">
            <a:avLst/>
          </a:prstGeom>
          <a:solidFill>
            <a:srgbClr val="FFEA00">
              <a:alpha val="50000"/>
            </a:srgbClr>
          </a:solidFill>
          <a:ln w="12700">
            <a:solidFill>
              <a:srgbClr val="FFEA00">
                <a:alpha val="50000"/>
              </a:srgbClr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7159752" y="1938528"/>
            <a:ext cx="36576" cy="2523744"/>
          </a:xfrm>
          <a:prstGeom prst="rect">
            <a:avLst/>
          </a:prstGeom>
          <a:solidFill>
            <a:srgbClr val="FFEA00">
              <a:alpha val="60000"/>
            </a:srgbClr>
          </a:solidFill>
          <a:ln w="12700">
            <a:solidFill>
              <a:srgbClr val="FFEA00">
                <a:alpha val="60000"/>
              </a:srgbClr>
            </a:solidFill>
            <a:prstDash val="solid"/>
          </a:ln>
        </p:spPr>
      </p:sp>
      <p:sp>
        <p:nvSpPr>
          <p:cNvPr id="78" name="Text 71"/>
          <p:cNvSpPr/>
          <p:nvPr/>
        </p:nvSpPr>
        <p:spPr>
          <a:xfrm>
            <a:off x="7232904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p.city,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SUM(c.hospital_bill)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total_revenue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 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CovidCases 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p.patient_id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=c.patient_id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p.city;</a:t>
            </a:r>
            <a:endParaRPr lang="en-US" sz="900" dirty="0"/>
          </a:p>
        </p:txBody>
      </p:sp>
      <p:sp>
        <p:nvSpPr>
          <p:cNvPr id="79" name="Shape 72"/>
          <p:cNvSpPr/>
          <p:nvPr/>
        </p:nvSpPr>
        <p:spPr>
          <a:xfrm>
            <a:off x="7159752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FFEA00">
              <a:alpha val="22000"/>
            </a:srgbClr>
          </a:solidFill>
          <a:ln/>
        </p:spPr>
      </p:sp>
      <p:sp>
        <p:nvSpPr>
          <p:cNvPr id="80" name="Text 73"/>
          <p:cNvSpPr/>
          <p:nvPr/>
        </p:nvSpPr>
        <p:spPr>
          <a:xfrm>
            <a:off x="7187184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JOIN + SUM + GROUP BY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0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91440"/>
            <a:ext cx="64008" cy="47548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FF6D00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3000" y="91440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SQL Insights #16 to #20</a:t>
            </a:r>
            <a:endParaRPr lang="en-US" sz="1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3152"/>
            <a:ext cx="713232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92608" y="749808"/>
            <a:ext cx="4389120" cy="228600"/>
          </a:xfrm>
          <a:prstGeom prst="roundRect">
            <a:avLst>
              <a:gd name="adj" fmla="val 24000"/>
            </a:avLst>
          </a:prstGeom>
          <a:solidFill>
            <a:srgbClr val="FF6D00">
              <a:alpha val="2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7498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Advanced SQL Techniques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46320" y="758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Window Function · Subqueries · Vaccination Impact</a:t>
            </a:r>
            <a:endParaRPr lang="en-US" sz="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680960" y="749808"/>
            <a:ext cx="1261872" cy="95097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92608" y="1005840"/>
            <a:ext cx="1664208" cy="3822192"/>
          </a:xfrm>
          <a:prstGeom prst="rect">
            <a:avLst/>
          </a:prstGeom>
          <a:solidFill>
            <a:srgbClr val="1E0E0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2608" y="1005840"/>
            <a:ext cx="1664208" cy="9144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92608" y="4791456"/>
            <a:ext cx="1664208" cy="36576"/>
          </a:xfrm>
          <a:prstGeom prst="rect">
            <a:avLst/>
          </a:prstGeom>
          <a:solidFill>
            <a:srgbClr val="FF6D00">
              <a:alpha val="40000"/>
            </a:srgbClr>
          </a:solidFill>
          <a:ln w="1270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92608" y="1097280"/>
            <a:ext cx="45720" cy="3694176"/>
          </a:xfrm>
          <a:prstGeom prst="rect">
            <a:avLst/>
          </a:prstGeom>
          <a:solidFill>
            <a:srgbClr val="FF6D00">
              <a:alpha val="45000"/>
            </a:srgbClr>
          </a:solidFill>
          <a:ln w="12700">
            <a:solidFill>
              <a:srgbClr val="FF6D00">
                <a:alpha val="4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FF6D00">
              <a:alpha val="25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#16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65760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Highest Bills (RANK)</a:t>
            </a:r>
            <a:endParaRPr lang="en-US" sz="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316736" y="1115568"/>
            <a:ext cx="530352" cy="38404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56616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22" name="Shape 17"/>
          <p:cNvSpPr/>
          <p:nvPr/>
        </p:nvSpPr>
        <p:spPr>
          <a:xfrm>
            <a:off x="356616" y="1901952"/>
            <a:ext cx="1536192" cy="36576"/>
          </a:xfrm>
          <a:prstGeom prst="rect">
            <a:avLst/>
          </a:prstGeom>
          <a:solidFill>
            <a:srgbClr val="FF6D00">
              <a:alpha val="50000"/>
            </a:srgbClr>
          </a:solidFill>
          <a:ln w="12700">
            <a:solidFill>
              <a:srgbClr val="FF6D00">
                <a:alpha val="5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56616" y="1938528"/>
            <a:ext cx="36576" cy="2523744"/>
          </a:xfrm>
          <a:prstGeom prst="rect">
            <a:avLst/>
          </a:prstGeom>
          <a:solidFill>
            <a:srgbClr val="FF6D00">
              <a:alpha val="60000"/>
            </a:srgbClr>
          </a:solidFill>
          <a:ln w="12700">
            <a:solidFill>
              <a:srgbClr val="FF6D00">
                <a:alpha val="6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29768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patient_name,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hospital_bill,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hospital_bill DESC)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rnk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 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CovidCases 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p.patient_id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=c.patient_id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3;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56616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FF6D00">
              <a:alpha val="22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384048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Window Fn: RANK()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1993392" y="1005840"/>
            <a:ext cx="1664208" cy="3822192"/>
          </a:xfrm>
          <a:prstGeom prst="rect">
            <a:avLst/>
          </a:prstGeom>
          <a:solidFill>
            <a:srgbClr val="1A080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993392" y="1005840"/>
            <a:ext cx="1664208" cy="9144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993392" y="4791456"/>
            <a:ext cx="1664208" cy="36576"/>
          </a:xfrm>
          <a:prstGeom prst="rect">
            <a:avLst/>
          </a:prstGeom>
          <a:solidFill>
            <a:srgbClr val="FF1744">
              <a:alpha val="40000"/>
            </a:srgbClr>
          </a:solidFill>
          <a:ln w="12700">
            <a:solidFill>
              <a:srgbClr val="FF1744">
                <a:alpha val="40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993392" y="1097280"/>
            <a:ext cx="45720" cy="3694176"/>
          </a:xfrm>
          <a:prstGeom prst="rect">
            <a:avLst/>
          </a:prstGeom>
          <a:solidFill>
            <a:srgbClr val="FF1744">
              <a:alpha val="45000"/>
            </a:srgbClr>
          </a:solidFill>
          <a:ln w="12700">
            <a:solidFill>
              <a:srgbClr val="FF1744">
                <a:alpha val="45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2066544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FF1744">
              <a:alpha val="25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2066544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#17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2066544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Non-Vaccinated Critical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2057400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5" name="Shape 30"/>
          <p:cNvSpPr/>
          <p:nvPr/>
        </p:nvSpPr>
        <p:spPr>
          <a:xfrm>
            <a:off x="2057400" y="1901952"/>
            <a:ext cx="1536192" cy="36576"/>
          </a:xfrm>
          <a:prstGeom prst="rect">
            <a:avLst/>
          </a:prstGeom>
          <a:solidFill>
            <a:srgbClr val="FF1744">
              <a:alpha val="50000"/>
            </a:srgbClr>
          </a:solidFill>
          <a:ln w="12700">
            <a:solidFill>
              <a:srgbClr val="FF1744">
                <a:alpha val="5000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2057400" y="1938528"/>
            <a:ext cx="36576" cy="2523744"/>
          </a:xfrm>
          <a:prstGeom prst="rect">
            <a:avLst/>
          </a:prstGeom>
          <a:solidFill>
            <a:srgbClr val="FF1744">
              <a:alpha val="60000"/>
            </a:srgbClr>
          </a:solidFill>
          <a:ln w="12700">
            <a:solidFill>
              <a:srgbClr val="FF1744">
                <a:alpha val="6000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130552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C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patient_name,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 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CovidCases 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p.patient_id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=c.patient_id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vaccination_status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='Not Vaccinated'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FF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severity='Critical';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2057400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FF1744">
              <a:alpha val="22000"/>
            </a:srgbClr>
          </a:solidFill>
          <a:ln/>
        </p:spPr>
      </p:sp>
      <p:sp>
        <p:nvSpPr>
          <p:cNvPr id="39" name="Text 34"/>
          <p:cNvSpPr/>
          <p:nvPr/>
        </p:nvSpPr>
        <p:spPr>
          <a:xfrm>
            <a:off x="2084832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JOIN + multi-WHERE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3694176" y="1005840"/>
            <a:ext cx="1664208" cy="3822192"/>
          </a:xfrm>
          <a:prstGeom prst="rect">
            <a:avLst/>
          </a:prstGeom>
          <a:solidFill>
            <a:srgbClr val="200A0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3694176" y="1005840"/>
            <a:ext cx="1664208" cy="91440"/>
          </a:xfrm>
          <a:prstGeom prst="rect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3694176" y="4791456"/>
            <a:ext cx="1664208" cy="36576"/>
          </a:xfrm>
          <a:prstGeom prst="rect">
            <a:avLst/>
          </a:prstGeom>
          <a:solidFill>
            <a:srgbClr val="FFAB40">
              <a:alpha val="40000"/>
            </a:srgbClr>
          </a:solidFill>
          <a:ln w="12700">
            <a:solidFill>
              <a:srgbClr val="FFAB40">
                <a:alpha val="4000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694176" y="1097280"/>
            <a:ext cx="45720" cy="3694176"/>
          </a:xfrm>
          <a:prstGeom prst="rect">
            <a:avLst/>
          </a:prstGeom>
          <a:solidFill>
            <a:srgbClr val="FFAB40">
              <a:alpha val="45000"/>
            </a:srgbClr>
          </a:solidFill>
          <a:ln w="12700">
            <a:solidFill>
              <a:srgbClr val="FFAB40">
                <a:alpha val="4500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3767328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FFAB40">
              <a:alpha val="25000"/>
            </a:srgbClr>
          </a:solidFill>
          <a:ln/>
        </p:spPr>
      </p:sp>
      <p:sp>
        <p:nvSpPr>
          <p:cNvPr id="45" name="Text 40"/>
          <p:cNvSpPr/>
          <p:nvPr/>
        </p:nvSpPr>
        <p:spPr>
          <a:xfrm>
            <a:off x="3767328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#18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3767328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Cases Percentage</a:t>
            </a:r>
            <a:endParaRPr lang="en-US" sz="900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4718304" y="1115568"/>
            <a:ext cx="530352" cy="384048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3758184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49" name="Shape 43"/>
          <p:cNvSpPr/>
          <p:nvPr/>
        </p:nvSpPr>
        <p:spPr>
          <a:xfrm>
            <a:off x="3758184" y="1901952"/>
            <a:ext cx="1536192" cy="36576"/>
          </a:xfrm>
          <a:prstGeom prst="rect">
            <a:avLst/>
          </a:prstGeom>
          <a:solidFill>
            <a:srgbClr val="FFAB40">
              <a:alpha val="50000"/>
            </a:srgbClr>
          </a:solidFill>
          <a:ln w="12700">
            <a:solidFill>
              <a:srgbClr val="FFAB40">
                <a:alpha val="5000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3758184" y="1938528"/>
            <a:ext cx="36576" cy="2523744"/>
          </a:xfrm>
          <a:prstGeom prst="rect">
            <a:avLst/>
          </a:prstGeom>
          <a:solidFill>
            <a:srgbClr val="FFAB40">
              <a:alpha val="60000"/>
            </a:srgbClr>
          </a:solidFill>
          <a:ln w="12700">
            <a:solidFill>
              <a:srgbClr val="FFAB40">
                <a:alpha val="60000"/>
              </a:srgbClr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3831336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D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COUNT(*)*100/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COUNT(*)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FROM CovidCases)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mild_percentage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CovidCases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D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severity='Mild';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3758184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FFAB40">
              <a:alpha val="22000"/>
            </a:srgbClr>
          </a:solidFill>
          <a:ln/>
        </p:spPr>
      </p:sp>
      <p:sp>
        <p:nvSpPr>
          <p:cNvPr id="53" name="Text 47"/>
          <p:cNvSpPr/>
          <p:nvPr/>
        </p:nvSpPr>
        <p:spPr>
          <a:xfrm>
            <a:off x="3785616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Subquery %</a:t>
            </a:r>
            <a:endParaRPr lang="en-US" sz="750" dirty="0"/>
          </a:p>
        </p:txBody>
      </p:sp>
      <p:sp>
        <p:nvSpPr>
          <p:cNvPr id="54" name="Shape 48"/>
          <p:cNvSpPr/>
          <p:nvPr/>
        </p:nvSpPr>
        <p:spPr>
          <a:xfrm>
            <a:off x="5394960" y="1005840"/>
            <a:ext cx="1664208" cy="3822192"/>
          </a:xfrm>
          <a:prstGeom prst="rect">
            <a:avLst/>
          </a:prstGeom>
          <a:solidFill>
            <a:srgbClr val="1C0A0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5" name="Shape 49"/>
          <p:cNvSpPr/>
          <p:nvPr/>
        </p:nvSpPr>
        <p:spPr>
          <a:xfrm>
            <a:off x="5394960" y="1005840"/>
            <a:ext cx="1664208" cy="91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5394960" y="4791456"/>
            <a:ext cx="1664208" cy="36576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5394960" y="1097280"/>
            <a:ext cx="45720" cy="3694176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5468112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00E5FF">
              <a:alpha val="25000"/>
            </a:srgbClr>
          </a:solidFill>
          <a:ln/>
        </p:spPr>
      </p:sp>
      <p:sp>
        <p:nvSpPr>
          <p:cNvPr id="59" name="Text 53"/>
          <p:cNvSpPr/>
          <p:nvPr/>
        </p:nvSpPr>
        <p:spPr>
          <a:xfrm>
            <a:off x="5468112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#19</a:t>
            </a:r>
            <a:endParaRPr lang="en-US" sz="1050" dirty="0"/>
          </a:p>
        </p:txBody>
      </p:sp>
      <p:sp>
        <p:nvSpPr>
          <p:cNvPr id="60" name="Text 54"/>
          <p:cNvSpPr/>
          <p:nvPr/>
        </p:nvSpPr>
        <p:spPr>
          <a:xfrm>
            <a:off x="5468112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Avg Cost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5458968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62" name="Shape 56"/>
          <p:cNvSpPr/>
          <p:nvPr/>
        </p:nvSpPr>
        <p:spPr>
          <a:xfrm>
            <a:off x="5458968" y="1901952"/>
            <a:ext cx="1536192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5458968" y="1938528"/>
            <a:ext cx="36576" cy="2523744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5532120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p.city,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AVG(c.hospital_bill)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avg_bill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 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CovidCases 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p.patient_id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=c.patient_id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p.city;</a:t>
            </a:r>
            <a:endParaRPr lang="en-US" sz="900" dirty="0"/>
          </a:p>
        </p:txBody>
      </p:sp>
      <p:sp>
        <p:nvSpPr>
          <p:cNvPr id="65" name="Shape 59"/>
          <p:cNvSpPr/>
          <p:nvPr/>
        </p:nvSpPr>
        <p:spPr>
          <a:xfrm>
            <a:off x="5458968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00E5FF">
              <a:alpha val="22000"/>
            </a:srgbClr>
          </a:solidFill>
          <a:ln/>
        </p:spPr>
      </p:sp>
      <p:sp>
        <p:nvSpPr>
          <p:cNvPr id="66" name="Text 60"/>
          <p:cNvSpPr/>
          <p:nvPr/>
        </p:nvSpPr>
        <p:spPr>
          <a:xfrm>
            <a:off x="5486400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JOIN + AVG + GROUP BY</a:t>
            </a:r>
            <a:endParaRPr lang="en-US" sz="750" dirty="0"/>
          </a:p>
        </p:txBody>
      </p:sp>
      <p:sp>
        <p:nvSpPr>
          <p:cNvPr id="67" name="Shape 61"/>
          <p:cNvSpPr/>
          <p:nvPr/>
        </p:nvSpPr>
        <p:spPr>
          <a:xfrm>
            <a:off x="7095744" y="1005840"/>
            <a:ext cx="1664208" cy="3822192"/>
          </a:xfrm>
          <a:prstGeom prst="rect">
            <a:avLst/>
          </a:prstGeom>
          <a:solidFill>
            <a:srgbClr val="180C0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8" name="Shape 62"/>
          <p:cNvSpPr/>
          <p:nvPr/>
        </p:nvSpPr>
        <p:spPr>
          <a:xfrm>
            <a:off x="7095744" y="1005840"/>
            <a:ext cx="1664208" cy="91440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7095744" y="4791456"/>
            <a:ext cx="1664208" cy="36576"/>
          </a:xfrm>
          <a:prstGeom prst="rect">
            <a:avLst/>
          </a:prstGeom>
          <a:solidFill>
            <a:srgbClr val="76FF03">
              <a:alpha val="40000"/>
            </a:srgbClr>
          </a:solidFill>
          <a:ln w="12700">
            <a:solidFill>
              <a:srgbClr val="76FF03">
                <a:alpha val="4000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7095744" y="1097280"/>
            <a:ext cx="45720" cy="3694176"/>
          </a:xfrm>
          <a:prstGeom prst="rect">
            <a:avLst/>
          </a:prstGeom>
          <a:solidFill>
            <a:srgbClr val="76FF03">
              <a:alpha val="45000"/>
            </a:srgbClr>
          </a:solidFill>
          <a:ln w="12700">
            <a:solidFill>
              <a:srgbClr val="76FF03">
                <a:alpha val="45000"/>
              </a:srgbClr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7168896" y="1133856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76FF03">
              <a:alpha val="25000"/>
            </a:srgbClr>
          </a:solidFill>
          <a:ln/>
        </p:spPr>
      </p:sp>
      <p:sp>
        <p:nvSpPr>
          <p:cNvPr id="72" name="Text 66"/>
          <p:cNvSpPr/>
          <p:nvPr/>
        </p:nvSpPr>
        <p:spPr>
          <a:xfrm>
            <a:off x="7168896" y="11338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#20</a:t>
            </a:r>
            <a:endParaRPr lang="en-US" sz="1050" dirty="0"/>
          </a:p>
        </p:txBody>
      </p:sp>
      <p:sp>
        <p:nvSpPr>
          <p:cNvPr id="73" name="Text 67"/>
          <p:cNvSpPr/>
          <p:nvPr/>
        </p:nvSpPr>
        <p:spPr>
          <a:xfrm>
            <a:off x="7168896" y="149961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6FF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Impact Analysis</a:t>
            </a:r>
            <a:endParaRPr lang="en-US" sz="900" dirty="0"/>
          </a:p>
        </p:txBody>
      </p:sp>
      <p:pic>
        <p:nvPicPr>
          <p:cNvPr id="74" name="Image 4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8119872" y="1115568"/>
            <a:ext cx="530352" cy="384048"/>
          </a:xfrm>
          <a:prstGeom prst="rect">
            <a:avLst/>
          </a:prstGeom>
        </p:spPr>
      </p:pic>
      <p:sp>
        <p:nvSpPr>
          <p:cNvPr id="75" name="Shape 68"/>
          <p:cNvSpPr/>
          <p:nvPr/>
        </p:nvSpPr>
        <p:spPr>
          <a:xfrm>
            <a:off x="7159752" y="1901952"/>
            <a:ext cx="1536192" cy="25603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76" name="Shape 69"/>
          <p:cNvSpPr/>
          <p:nvPr/>
        </p:nvSpPr>
        <p:spPr>
          <a:xfrm>
            <a:off x="7159752" y="1901952"/>
            <a:ext cx="1536192" cy="36576"/>
          </a:xfrm>
          <a:prstGeom prst="rect">
            <a:avLst/>
          </a:prstGeom>
          <a:solidFill>
            <a:srgbClr val="76FF03">
              <a:alpha val="50000"/>
            </a:srgbClr>
          </a:solidFill>
          <a:ln w="12700">
            <a:solidFill>
              <a:srgbClr val="76FF03">
                <a:alpha val="50000"/>
              </a:srgbClr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7159752" y="1938528"/>
            <a:ext cx="36576" cy="2523744"/>
          </a:xfrm>
          <a:prstGeom prst="rect">
            <a:avLst/>
          </a:prstGeom>
          <a:solidFill>
            <a:srgbClr val="76FF03">
              <a:alpha val="60000"/>
            </a:srgbClr>
          </a:solidFill>
          <a:ln w="12700">
            <a:solidFill>
              <a:srgbClr val="76FF03">
                <a:alpha val="60000"/>
              </a:srgbClr>
            </a:solidFill>
            <a:prstDash val="solid"/>
          </a:ln>
        </p:spPr>
      </p:sp>
      <p:sp>
        <p:nvSpPr>
          <p:cNvPr id="78" name="Text 71"/>
          <p:cNvSpPr/>
          <p:nvPr/>
        </p:nvSpPr>
        <p:spPr>
          <a:xfrm>
            <a:off x="7232904" y="1956816"/>
            <a:ext cx="1426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8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vaccination_status,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AVG(hospital_bill)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avg_cost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CovidCases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vaccination_status;</a:t>
            </a:r>
            <a:endParaRPr lang="en-US" sz="900" dirty="0"/>
          </a:p>
        </p:txBody>
      </p:sp>
      <p:sp>
        <p:nvSpPr>
          <p:cNvPr id="79" name="Shape 72"/>
          <p:cNvSpPr/>
          <p:nvPr/>
        </p:nvSpPr>
        <p:spPr>
          <a:xfrm>
            <a:off x="7159752" y="4572000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76FF03">
              <a:alpha val="22000"/>
            </a:srgbClr>
          </a:solidFill>
          <a:ln/>
        </p:spPr>
      </p:sp>
      <p:sp>
        <p:nvSpPr>
          <p:cNvPr id="80" name="Text 73"/>
          <p:cNvSpPr/>
          <p:nvPr/>
        </p:nvSpPr>
        <p:spPr>
          <a:xfrm>
            <a:off x="7187184" y="45720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Cost impact analysis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54864" cy="475488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 Covered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3152"/>
            <a:ext cx="713232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1323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 applied across all 20 business insights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" y="1024128"/>
            <a:ext cx="2029968" cy="146304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024128"/>
            <a:ext cx="2029968" cy="54864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" y="1618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1956816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SUM(), AVG(), MAX(), COUNT() for numerical insights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41448" y="1024128"/>
            <a:ext cx="2029968" cy="146304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41448" y="1024128"/>
            <a:ext cx="2029968" cy="54864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78608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578608" y="1618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578608" y="1956816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linking Patients &amp; CovidCases tables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62856" y="1024128"/>
            <a:ext cx="2029968" cy="146304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62856" y="1024128"/>
            <a:ext cx="2029968" cy="54864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0016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700016" y="1618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/ ORDER BY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00016" y="1956816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city, gender, status, severity to segment data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684264" y="1024128"/>
            <a:ext cx="2029968" cy="146304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684264" y="1024128"/>
            <a:ext cx="2029968" cy="54864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21424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821424" y="1618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Filters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821424" y="1956816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status, vaccination, oxygen, severity fields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2596896"/>
            <a:ext cx="2029968" cy="146304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0040" y="2596896"/>
            <a:ext cx="2029968" cy="54864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457200" y="319125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7200" y="3529584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OVER() to rank patients by hospital bill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441448" y="2596896"/>
            <a:ext cx="2029968" cy="146304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441448" y="2596896"/>
            <a:ext cx="2029968" cy="54864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578608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⊂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2578608" y="319125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2578608" y="3529584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SELECT for percentage calculations (Insight #18)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562856" y="2596896"/>
            <a:ext cx="2029968" cy="146304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562856" y="2596896"/>
            <a:ext cx="2029968" cy="54864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00016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4700016" y="319125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700016" y="3529584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MONTHNAME() and DATEDIFF() for time-based analysis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684264" y="2596896"/>
            <a:ext cx="2029968" cy="146304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684264" y="2596896"/>
            <a:ext cx="2029968" cy="54864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21424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200" dirty="0"/>
          </a:p>
        </p:txBody>
      </p:sp>
      <p:sp>
        <p:nvSpPr>
          <p:cNvPr id="46" name="Text 43"/>
          <p:cNvSpPr/>
          <p:nvPr/>
        </p:nvSpPr>
        <p:spPr>
          <a:xfrm>
            <a:off x="6821424" y="319125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/ DML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6821424" y="3529584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TABLE, INSERT INTO, PRIMARY KEY, FOREIGN KEY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54864" cy="475488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Analytics — Visual Insights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3152"/>
            <a:ext cx="713232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1323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findings from the COVID-19 database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20040" y="1024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Severity Distribution</a:t>
            </a:r>
            <a:endParaRPr lang="en-US" sz="10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280160"/>
          <a:ext cx="4023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663440" y="102412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Bills by Patient (₹)</a:t>
            </a:r>
            <a:endParaRPr lang="en-US" sz="10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663440" y="1280160"/>
          <a:ext cx="41605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Shape 7"/>
          <p:cNvSpPr/>
          <p:nvPr/>
        </p:nvSpPr>
        <p:spPr>
          <a:xfrm>
            <a:off x="320040" y="3730752"/>
            <a:ext cx="1627632" cy="1024128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20040" y="3730752"/>
            <a:ext cx="1627632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20040" y="3803904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₹7.3L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20040" y="43159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057400" y="3730752"/>
            <a:ext cx="1627632" cy="1024128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057400" y="3730752"/>
            <a:ext cx="1627632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057400" y="3803904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₹1.46L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2057400" y="43159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Bill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794760" y="3730752"/>
            <a:ext cx="1627632" cy="1024128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794760" y="3730752"/>
            <a:ext cx="1627632" cy="45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794760" y="3803904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₹2.8L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3794760" y="43159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Bill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532120" y="3730752"/>
            <a:ext cx="1627632" cy="1024128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532120" y="3730752"/>
            <a:ext cx="1627632" cy="4572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532120" y="3803904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5532120" y="43159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Needed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7269480" y="3730752"/>
            <a:ext cx="1627632" cy="1024128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269480" y="3730752"/>
            <a:ext cx="1627632" cy="45720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269480" y="3803904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2200" dirty="0"/>
          </a:p>
        </p:txBody>
      </p:sp>
      <p:sp>
        <p:nvSpPr>
          <p:cNvPr id="31" name="Text 26"/>
          <p:cNvSpPr/>
          <p:nvPr/>
        </p:nvSpPr>
        <p:spPr>
          <a:xfrm>
            <a:off x="7269480" y="43159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Cases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54864" cy="475488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Strategic Decisions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3152"/>
            <a:ext cx="713232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1323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hospital management &amp; public health recommendations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" y="1024128"/>
            <a:ext cx="4251960" cy="1901952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024128"/>
            <a:ext cx="4251960" cy="54864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" y="1152144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ICU &amp; Oxygen Supply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" y="1591056"/>
            <a:ext cx="3995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ICU beds and oxygen supply in Delhi &amp; Mumbai. SQL data shows highest critical patient concentration in these cities.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024128"/>
            <a:ext cx="4251960" cy="1901952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24128"/>
            <a:ext cx="4251960" cy="54864"/>
          </a:xfrm>
          <a:prstGeom prst="rect">
            <a:avLst/>
          </a:prstGeom>
          <a:solidFill>
            <a:srgbClr val="E82222"/>
          </a:solidFill>
          <a:ln w="12700">
            <a:solidFill>
              <a:srgbClr val="E822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472" y="1152144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 Vaccination Awareness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19472" y="1591056"/>
            <a:ext cx="3995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Non-vaccinated patients cost ₹2.5L–₹2.8L vs ₹0.3L–₹1.2L for vaccinated. Launch city-wise vaccination drives immediately.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3108960"/>
            <a:ext cx="4251960" cy="1901952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108960"/>
            <a:ext cx="425196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" y="3236976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Budget &amp; Resource Planning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4632" y="3675888"/>
            <a:ext cx="3995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admission trends from SQL enable accurate staff, medicine &amp; equipment forecasting. Use MONTHNAME() analytics for procurement.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3108960"/>
            <a:ext cx="4251960" cy="1901952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3108960"/>
            <a:ext cx="4251960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19472" y="3236976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High-Risk Age Monitoring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919472" y="3675888"/>
            <a:ext cx="3995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aged 50–65 show highest severity and treatment costs. Deploy dedicated early-intervention protocols for this demographic group.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54864" cy="475488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&amp; Conclusion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3152"/>
            <a:ext cx="713232" cy="384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804672"/>
            <a:ext cx="8503920" cy="1572768"/>
          </a:xfrm>
          <a:prstGeom prst="rect">
            <a:avLst/>
          </a:prstGeom>
          <a:solidFill>
            <a:srgbClr val="150000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804672"/>
            <a:ext cx="8503920" cy="4572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8778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Project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1188720"/>
            <a:ext cx="8229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the real-world application of SQL in the healthcare domain by analyzing COVID-19 patient data. A fully normalized relational database (CovidAnalytics) was designed from scratch with two tables — Patients and CovidCases — linked through a foreign key relationship. Using 20 structured SQL queries, we extracted meaningful business insights covering revenue, vaccination impact, patient demographics, severity distribution, city-wise trends, and treatment cost analysis. Advanced SQL techniques including JOINs, window functions (RANK), subqueries, and date functions were applied to produce data-driven strategic decisions for hospital management and public health policy.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320040" y="2487168"/>
            <a:ext cx="1353312" cy="91440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2487168"/>
            <a:ext cx="1353312" cy="4572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560320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20040" y="30632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746504" y="2487168"/>
            <a:ext cx="1353312" cy="91440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746504" y="2487168"/>
            <a:ext cx="1353312" cy="4572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46504" y="2560320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746504" y="30632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172968" y="2487168"/>
            <a:ext cx="1353312" cy="91440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72968" y="2487168"/>
            <a:ext cx="1353312" cy="4572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72968" y="2560320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3172968" y="30632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99432" y="2487168"/>
            <a:ext cx="1353312" cy="91440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99432" y="2487168"/>
            <a:ext cx="1353312" cy="4572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99432" y="2560320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4599432" y="30632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Points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025896" y="2487168"/>
            <a:ext cx="1353312" cy="91440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025896" y="2487168"/>
            <a:ext cx="1353312" cy="4572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25896" y="2560320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6025896" y="30632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452360" y="2487168"/>
            <a:ext cx="1353312" cy="914400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452360" y="2487168"/>
            <a:ext cx="1353312" cy="4572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52360" y="2560320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7452360" y="30632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Work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493008"/>
            <a:ext cx="4160520" cy="1444752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" y="3493008"/>
            <a:ext cx="4160520" cy="4572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57200" y="38770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Database Design (DDL) — CREATE, PRIMARY KEY, FOREIGN KEY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57200" y="40279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Manipulation (DML) — INSERT, SELECT with filters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57200" y="41788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Joins — INNER JOIN across relational tables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57200" y="43296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Aggregates — SUM, AVG, MAX, COUNT for business KPIs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57200" y="44805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Window Functions — RANK() OVER() for ranking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57200" y="463143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Subqueries — Nested SELECT for percentage insights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57200" y="47823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Date Functions — MONTHNAME(), DATEDIFF() for trends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663440" y="3493008"/>
            <a:ext cx="4160520" cy="1444752"/>
          </a:xfrm>
          <a:prstGeom prst="rect">
            <a:avLst/>
          </a:prstGeom>
          <a:solidFill>
            <a:srgbClr val="222222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663440" y="3493008"/>
            <a:ext cx="4160520" cy="457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0060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4800600" y="38770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Identified Delhi &amp; Mumbai as highest COVID case cities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800600" y="402793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Proved non-vaccinated patients cost 3–5x more to treat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800600" y="41788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Ranked top 3 costliest patients using RANK() window fn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800600" y="432968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Calculated mild case % using nested subquery logic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4800600" y="44805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Showed monthly admission spikes for resource planning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800600" y="46314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 city-wise revenue &amp; avg cost breakdown for mgmt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800600" y="47823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Gave 4 strategic hospital &amp; public health decisions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Analytics Using SQL  ·  Oxford Software Institute  ·  Complete Project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8B000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560320"/>
            <a:ext cx="3657600" cy="3657600"/>
          </a:xfrm>
          <a:prstGeom prst="ellipse">
            <a:avLst/>
          </a:prstGeom>
          <a:solidFill>
            <a:srgbClr val="001A4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474720"/>
            <a:ext cx="2743200" cy="2743200"/>
          </a:xfrm>
          <a:prstGeom prst="ellipse">
            <a:avLst/>
          </a:prstGeom>
          <a:solidFill>
            <a:srgbClr val="1A003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01168"/>
            <a:ext cx="1645920" cy="8229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 5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2200" dirty="0">
                <a:solidFill>
                  <a:srgbClr val="CC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1371600" y="2944368"/>
            <a:ext cx="2560320" cy="36576"/>
          </a:xfrm>
          <a:prstGeom prst="rect">
            <a:avLst/>
          </a:prstGeom>
          <a:solidFill>
            <a:srgbClr val="9E9E9E">
              <a:alpha val="50000"/>
            </a:srgbClr>
          </a:solidFill>
          <a:ln w="12700">
            <a:solidFill>
              <a:srgbClr val="9E9E9E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94760" y="2834640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CC1111"/>
          </a:solidFill>
          <a:ln/>
        </p:spPr>
      </p:sp>
      <p:sp>
        <p:nvSpPr>
          <p:cNvPr id="12" name="Text 9"/>
          <p:cNvSpPr/>
          <p:nvPr/>
        </p:nvSpPr>
        <p:spPr>
          <a:xfrm>
            <a:off x="3794760" y="28346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gratitude;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212080" y="2944368"/>
            <a:ext cx="2560320" cy="36576"/>
          </a:xfrm>
          <a:prstGeom prst="rect">
            <a:avLst/>
          </a:prstGeom>
          <a:solidFill>
            <a:srgbClr val="9E9E9E">
              <a:alpha val="50000"/>
            </a:srgbClr>
          </a:solidFill>
          <a:ln w="12700">
            <a:solidFill>
              <a:srgbClr val="9E9E9E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200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 pleasure walking you through this COVID-19 SQL Analytics Project.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31520" y="352958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this project helped you understand the power of SQL in real-world healthcare data analysis.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0" y="4005072"/>
            <a:ext cx="9144000" cy="804672"/>
          </a:xfrm>
          <a:prstGeom prst="rect">
            <a:avLst/>
          </a:prstGeom>
          <a:solidFill>
            <a:srgbClr val="100000"/>
          </a:solidFill>
          <a:ln w="12700">
            <a:solidFill>
              <a:srgbClr val="1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005072"/>
            <a:ext cx="9144000" cy="36576"/>
          </a:xfrm>
          <a:prstGeom prst="rect">
            <a:avLst/>
          </a:prstGeom>
          <a:solidFill>
            <a:srgbClr val="CC1111">
              <a:alpha val="60000"/>
            </a:srgbClr>
          </a:solidFill>
          <a:ln w="12700">
            <a:solidFill>
              <a:srgbClr val="CC1111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169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</a:t>
            </a:r>
            <a:r>
              <a:rPr lang="en-US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Software Institute</a:t>
            </a:r>
            <a:endParaRPr lang="en-US" b="1" dirty="0"/>
          </a:p>
        </p:txBody>
      </p:sp>
      <p:sp>
        <p:nvSpPr>
          <p:cNvPr id="19" name="Text 16"/>
          <p:cNvSpPr/>
          <p:nvPr/>
        </p:nvSpPr>
        <p:spPr>
          <a:xfrm>
            <a:off x="3200400" y="4169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COVID-19 Analytics · SQL Project</a:t>
            </a:r>
            <a:endParaRPr lang="en-US" sz="1600" b="1" dirty="0"/>
          </a:p>
        </p:txBody>
      </p:sp>
      <p:sp>
        <p:nvSpPr>
          <p:cNvPr id="20" name="Text 17"/>
          <p:cNvSpPr/>
          <p:nvPr/>
        </p:nvSpPr>
        <p:spPr>
          <a:xfrm>
            <a:off x="5943600" y="4169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Queries · Analysis · Insights</a:t>
            </a:r>
            <a:endParaRPr lang="en-US" sz="1600" b="1" dirty="0"/>
          </a:p>
        </p:txBody>
      </p:sp>
      <p:sp>
        <p:nvSpPr>
          <p:cNvPr id="21" name="Shape 18"/>
          <p:cNvSpPr/>
          <p:nvPr/>
        </p:nvSpPr>
        <p:spPr>
          <a:xfrm>
            <a:off x="3108960" y="4114800"/>
            <a:ext cx="18288" cy="594360"/>
          </a:xfrm>
          <a:prstGeom prst="rect">
            <a:avLst/>
          </a:prstGeom>
          <a:solidFill>
            <a:srgbClr val="9E9E9E">
              <a:alpha val="40000"/>
            </a:srgbClr>
          </a:solidFill>
          <a:ln w="12700">
            <a:solidFill>
              <a:srgbClr val="9E9E9E">
                <a:alpha val="4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52160" y="4114800"/>
            <a:ext cx="18288" cy="594360"/>
          </a:xfrm>
          <a:prstGeom prst="rect">
            <a:avLst/>
          </a:prstGeom>
          <a:solidFill>
            <a:srgbClr val="9E9E9E">
              <a:alpha val="40000"/>
            </a:srgbClr>
          </a:solidFill>
          <a:ln w="12700">
            <a:solidFill>
              <a:srgbClr val="9E9E9E">
                <a:alpha val="40000"/>
              </a:srgbClr>
            </a:solidFill>
            <a:prstDash val="solid"/>
          </a:ln>
        </p:spPr>
      </p:sp>
      <p:sp>
        <p:nvSpPr>
          <p:cNvPr id="24" name="TextBox 23"/>
          <p:cNvSpPr txBox="1"/>
          <p:nvPr/>
        </p:nvSpPr>
        <p:spPr>
          <a:xfrm>
            <a:off x="7342632" y="3689604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By </a:t>
            </a:r>
            <a:r>
              <a:rPr lang="en-US" b="1" dirty="0" err="1">
                <a:solidFill>
                  <a:schemeClr val="bg1"/>
                </a:solidFill>
                <a:latin typeface="Algerian" panose="04020705040A02060702" pitchFamily="82" charset="0"/>
              </a:rPr>
              <a:t>Aarif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1604</Words>
  <Application>Microsoft Office PowerPoint</Application>
  <PresentationFormat>On-screen Show (16:9)</PresentationFormat>
  <Paragraphs>434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Analytics Using SQL — Oxford Software Institute</dc:title>
  <dc:subject>PptxGenJS Presentation</dc:subject>
  <dc:creator>PptxGenJS</dc:creator>
  <cp:lastModifiedBy>Admin</cp:lastModifiedBy>
  <cp:revision>9</cp:revision>
  <dcterms:created xsi:type="dcterms:W3CDTF">2026-05-10T23:51:02Z</dcterms:created>
  <dcterms:modified xsi:type="dcterms:W3CDTF">2026-05-14T13:08:41Z</dcterms:modified>
</cp:coreProperties>
</file>